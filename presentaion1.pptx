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70" r:id="rId8"/>
    <p:sldId id="271" r:id="rId9"/>
    <p:sldId id="272" r:id="rId10"/>
    <p:sldId id="267" r:id="rId11"/>
  </p:sldIdLst>
  <p:sldSz cx="12192000" cy="6858000"/>
  <p:notesSz cx="7772400" cy="10058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78" y="-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/>
          <a:p>
            <a:pPr indent="0" algn="ctr" defTabSz="914400">
              <a:lnSpc>
                <a:spcPct val="13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838080" y="551520"/>
            <a:ext cx="10515240" cy="555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текста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Второй уровень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Третий уровень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Четвертый уровень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Пятый уровень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Second level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17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1960" y="3750840"/>
            <a:ext cx="9842760" cy="81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1960" y="4610160"/>
            <a:ext cx="732132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 Ligh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143000" lvl="2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600200" lvl="3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057400" lvl="4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98176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143000" lvl="2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600200" lvl="3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057400" lvl="4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28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9880" y="174492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839880" y="2615760"/>
            <a:ext cx="5157360" cy="357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Fifth level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172200" y="174492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172200" y="2615760"/>
            <a:ext cx="5182920" cy="357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Fifth level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35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36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2766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46920" y="127080"/>
            <a:ext cx="416484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4000" y="766440"/>
            <a:ext cx="5816880" cy="509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Seventh Outline Level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51960" y="2057400"/>
            <a:ext cx="416484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824400" y="365040"/>
            <a:ext cx="15289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887976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Fifth level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9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8"/>
          <p:cNvPicPr/>
          <p:nvPr/>
        </p:nvPicPr>
        <p:blipFill>
          <a:blip r:embed="rId2" cstate="print"/>
          <a:stretch/>
        </p:blipFill>
        <p:spPr>
          <a:xfrm>
            <a:off x="-24680" y="0"/>
            <a:ext cx="12385376" cy="688538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Текстовое поле 3"/>
          <p:cNvSpPr/>
          <p:nvPr/>
        </p:nvSpPr>
        <p:spPr>
          <a:xfrm>
            <a:off x="6196696" y="1977480"/>
            <a:ext cx="5155888" cy="10449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spcBef>
                <a:spcPts val="300"/>
              </a:spcBef>
              <a:spcAft>
                <a:spcPts val="300"/>
              </a:spcAft>
            </a:pPr>
            <a:r>
              <a:rPr lang="en-US" sz="1900" b="1" u="none" strike="noStrike" dirty="0">
                <a:solidFill>
                  <a:schemeClr val="lt1"/>
                </a:solidFill>
                <a:effectLst/>
                <a:uFillTx/>
                <a:latin typeface="Source Sans Pro"/>
              </a:rPr>
              <a:t>Introduction to Traceability in Industry 4.0</a:t>
            </a:r>
            <a:endParaRPr lang="en-US" sz="1900" b="1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defTabSz="914400">
              <a:spcBef>
                <a:spcPts val="300"/>
              </a:spcBef>
              <a:spcAft>
                <a:spcPts val="300"/>
              </a:spcAft>
            </a:pPr>
            <a:r>
              <a:rPr lang="en-US" sz="1900" b="0" u="none" strike="noStrike" dirty="0">
                <a:solidFill>
                  <a:schemeClr val="lt1"/>
                </a:solidFill>
                <a:effectLst/>
                <a:uFillTx/>
                <a:latin typeface="Source Sans Pro"/>
              </a:rPr>
              <a:t>Intelligent Systems for Supply Chain Management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59" name="Текстовое поле 4"/>
          <p:cNvSpPr/>
          <p:nvPr/>
        </p:nvSpPr>
        <p:spPr>
          <a:xfrm>
            <a:off x="6412720" y="4503600"/>
            <a:ext cx="4723840" cy="941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b="0" u="none" strike="noStrike" dirty="0" err="1">
                <a:solidFill>
                  <a:schemeClr val="lt1"/>
                </a:solidFill>
                <a:effectLst/>
                <a:uFillTx/>
                <a:latin typeface="Source Sans Pro"/>
              </a:rPr>
              <a:t>Bikmetov</a:t>
            </a:r>
            <a:r>
              <a:rPr lang="en-US" b="0" u="none" strike="noStrike" dirty="0">
                <a:solidFill>
                  <a:schemeClr val="lt1"/>
                </a:solidFill>
                <a:effectLst/>
                <a:uFillTx/>
                <a:latin typeface="Source Sans Pro"/>
              </a:rPr>
              <a:t> </a:t>
            </a:r>
            <a:r>
              <a:rPr lang="en-US" b="0" u="none" strike="noStrike" dirty="0" smtClean="0">
                <a:solidFill>
                  <a:schemeClr val="lt1"/>
                </a:solidFill>
                <a:effectLst/>
                <a:uFillTx/>
                <a:latin typeface="Source Sans Pro"/>
              </a:rPr>
              <a:t>Daniel</a:t>
            </a:r>
            <a:r>
              <a:rPr lang="ru-RU" dirty="0">
                <a:solidFill>
                  <a:srgbClr val="000000"/>
                </a:solidFill>
                <a:latin typeface="Source Sans Pro"/>
              </a:rPr>
              <a:t> </a:t>
            </a:r>
            <a:r>
              <a:rPr lang="en-US" b="0" u="none" strike="noStrike" dirty="0" smtClean="0">
                <a:solidFill>
                  <a:schemeClr val="lt1"/>
                </a:solidFill>
                <a:effectLst/>
                <a:uFillTx/>
                <a:latin typeface="Source Sans Pro"/>
              </a:rPr>
              <a:t>6114-100503D</a:t>
            </a:r>
            <a:endParaRPr lang="ru-RU" b="0" u="none" strike="noStrike" dirty="0" smtClean="0">
              <a:solidFill>
                <a:schemeClr val="lt1"/>
              </a:solidFill>
              <a:effectLst/>
              <a:uFillTx/>
              <a:latin typeface="Source Sans Pro"/>
            </a:endParaRPr>
          </a:p>
          <a:p>
            <a:pPr algn="ctr" defTabSz="914400">
              <a:lnSpc>
                <a:spcPct val="100000"/>
              </a:lnSpc>
            </a:pPr>
            <a:r>
              <a:rPr lang="en-US" dirty="0" err="1" smtClean="0">
                <a:solidFill>
                  <a:schemeClr val="lt1"/>
                </a:solidFill>
                <a:latin typeface="Source Sans Pro"/>
              </a:rPr>
              <a:t>Krupenskiy</a:t>
            </a:r>
            <a:r>
              <a:rPr lang="en-US" dirty="0" smtClean="0">
                <a:solidFill>
                  <a:schemeClr val="lt1"/>
                </a:solidFill>
                <a:latin typeface="Source Sans Pro"/>
              </a:rPr>
              <a:t> Roman 6114-100503D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60" name="Текстовое поле 5"/>
          <p:cNvSpPr/>
          <p:nvPr/>
        </p:nvSpPr>
        <p:spPr>
          <a:xfrm>
            <a:off x="6743160" y="6068160"/>
            <a:ext cx="40636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b="0" u="none" strike="noStrike" dirty="0" err="1">
                <a:solidFill>
                  <a:schemeClr val="lt1"/>
                </a:solidFill>
                <a:effectLst/>
                <a:uFillTx/>
                <a:latin typeface="Source Sans Pro"/>
              </a:rPr>
              <a:t>Sumara</a:t>
            </a:r>
            <a:r>
              <a:rPr lang="en-US" b="0" u="none" strike="noStrike" dirty="0">
                <a:solidFill>
                  <a:schemeClr val="lt1"/>
                </a:solidFill>
                <a:effectLst/>
                <a:uFillTx/>
                <a:latin typeface="Source Sans Pro"/>
              </a:rPr>
              <a:t>, 2025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овое поле 3"/>
          <p:cNvSpPr/>
          <p:nvPr/>
        </p:nvSpPr>
        <p:spPr>
          <a:xfrm>
            <a:off x="0" y="319320"/>
            <a:ext cx="1219200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2400" b="1" dirty="0" smtClean="0">
                <a:latin typeface="Source Sans Pro"/>
              </a:rPr>
              <a:t>PRESENTATION OUTLINE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11109960" y="6324480"/>
            <a:ext cx="1043940" cy="38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dirty="0" smtClean="0">
                <a:latin typeface="Source Sans Pro"/>
              </a:rPr>
              <a:t>2</a:t>
            </a:r>
            <a:r>
              <a:rPr lang="ru-RU" dirty="0" smtClean="0">
                <a:latin typeface="Source Sans Pro"/>
              </a:rPr>
              <a:t>/</a:t>
            </a:r>
            <a:r>
              <a:rPr lang="ru-RU" dirty="0" smtClean="0">
                <a:latin typeface="Source Sans Pro"/>
              </a:rPr>
              <a:t>9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3" name="TextBox 4"/>
          <p:cNvSpPr/>
          <p:nvPr/>
        </p:nvSpPr>
        <p:spPr bwMode="gray">
          <a:xfrm>
            <a:off x="1907280" y="1514880"/>
            <a:ext cx="8411040" cy="36471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200" b="0" strike="noStrike" dirty="0">
                <a:effectLst/>
                <a:uFillTx/>
                <a:latin typeface="Source Sans Pro"/>
                <a:ea typeface="Calibri"/>
                <a:hlinkClick r:id="rId2" action="ppaction://hlinksldjump"/>
              </a:rPr>
              <a:t>Problem and Goal – </a:t>
            </a:r>
            <a:r>
              <a:rPr lang="en-US" sz="2200" b="0" strike="noStrike" dirty="0" smtClean="0">
                <a:effectLst/>
                <a:uFillTx/>
                <a:latin typeface="Source Sans Pro"/>
                <a:ea typeface="Calibri"/>
                <a:hlinkClick r:id="rId2" action="ppaction://hlinksldjump"/>
              </a:rPr>
              <a:t>3</a:t>
            </a:r>
            <a:endParaRPr lang="en-US" sz="2200" b="0" strike="noStrike" dirty="0">
              <a:effectLst/>
              <a:uFillTx/>
              <a:latin typeface="Source Sans Pro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200" dirty="0" smtClean="0">
                <a:latin typeface="Source Sans Pro"/>
                <a:ea typeface="Calibri"/>
                <a:hlinkClick r:id="rId3" action="ppaction://hlinksldjump"/>
              </a:rPr>
              <a:t>Core Idea: Three-Layer Architecture – </a:t>
            </a:r>
            <a:r>
              <a:rPr lang="en-US" sz="2200" b="0" strike="noStrike" dirty="0" smtClean="0">
                <a:effectLst/>
                <a:uFillTx/>
                <a:latin typeface="Source Sans Pro"/>
                <a:ea typeface="Calibri"/>
                <a:hlinkClick r:id="rId3" action="ppaction://hlinksldjump"/>
              </a:rPr>
              <a:t>4</a:t>
            </a:r>
            <a:endParaRPr lang="en-US" sz="2200" b="0" strike="noStrike" dirty="0" smtClean="0">
              <a:effectLst/>
              <a:uFillTx/>
              <a:latin typeface="Source Sans Pro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200" dirty="0" smtClean="0">
                <a:latin typeface="Source Sans Pro"/>
                <a:ea typeface="Calibri"/>
                <a:hlinkClick r:id="rId4" action="ppaction://hlinksldjump"/>
              </a:rPr>
              <a:t>System Architecture: Ontology-Based Modeling </a:t>
            </a:r>
            <a:r>
              <a:rPr lang="en-US" sz="2200" b="0" strike="noStrike" dirty="0">
                <a:effectLst/>
                <a:uFillTx/>
                <a:latin typeface="Source Sans Pro"/>
                <a:ea typeface="Calibri"/>
                <a:hlinkClick r:id="rId4" action="ppaction://hlinksldjump"/>
              </a:rPr>
              <a:t>– </a:t>
            </a:r>
            <a:r>
              <a:rPr lang="en-US" sz="2200" b="0" strike="noStrike" dirty="0" smtClean="0">
                <a:effectLst/>
                <a:uFillTx/>
                <a:latin typeface="Source Sans Pro"/>
                <a:ea typeface="Calibri"/>
                <a:hlinkClick r:id="rId4" action="ppaction://hlinksldjump"/>
              </a:rPr>
              <a:t>5</a:t>
            </a:r>
            <a:endParaRPr lang="en-US" sz="2200" b="0" strike="noStrike" dirty="0">
              <a:effectLst/>
              <a:uFillTx/>
              <a:latin typeface="Source Sans Pro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it-IT" sz="2200" dirty="0" smtClean="0">
                <a:latin typeface="Source Sans Pro"/>
                <a:ea typeface="Calibri"/>
                <a:hlinkClick r:id="rId5" action="ppaction://hlinksldjump"/>
              </a:rPr>
              <a:t>Data Integration: IoT Data Processing</a:t>
            </a:r>
            <a:r>
              <a:rPr lang="en-US" sz="2200" b="0" strike="noStrike" dirty="0" smtClean="0">
                <a:effectLst/>
                <a:uFillTx/>
                <a:latin typeface="Source Sans Pro"/>
                <a:ea typeface="Calibri"/>
                <a:hlinkClick r:id="rId5" action="ppaction://hlinksldjump"/>
              </a:rPr>
              <a:t> – 6</a:t>
            </a:r>
            <a:endParaRPr lang="en-US" sz="2200" b="0" strike="noStrike" dirty="0">
              <a:effectLst/>
              <a:uFillTx/>
              <a:latin typeface="Source Sans Pro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200" dirty="0" smtClean="0">
                <a:latin typeface="Source Sans Pro"/>
                <a:ea typeface="Calibri"/>
                <a:hlinkClick r:id="rId6" action="ppaction://hlinksldjump"/>
              </a:rPr>
              <a:t>Implementation: Cloud-Based Platform – 7</a:t>
            </a:r>
            <a:endParaRPr lang="en-US" sz="2200" b="0" strike="noStrike" dirty="0" smtClean="0">
              <a:effectLst/>
              <a:uFillTx/>
              <a:latin typeface="Source Sans Pro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200" dirty="0" smtClean="0">
                <a:latin typeface="Source Sans Pro"/>
                <a:ea typeface="Calibri"/>
                <a:hlinkClick r:id="rId7" action="ppaction://hlinksldjump"/>
              </a:rPr>
              <a:t>Key Results: System Capabilities – </a:t>
            </a:r>
            <a:r>
              <a:rPr lang="en-US" sz="2200" b="0" strike="noStrike" dirty="0" smtClean="0">
                <a:effectLst/>
                <a:uFillTx/>
                <a:latin typeface="Source Sans Pro"/>
                <a:ea typeface="Calibri"/>
                <a:hlinkClick r:id="rId7" action="ppaction://hlinksldjump"/>
              </a:rPr>
              <a:t>8</a:t>
            </a:r>
            <a:endParaRPr lang="en-US" sz="2200" b="0" strike="noStrike" dirty="0" smtClean="0">
              <a:effectLst/>
              <a:uFillTx/>
              <a:latin typeface="Source Sans Pro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200" dirty="0" smtClean="0">
                <a:latin typeface="Source Sans Pro"/>
                <a:ea typeface="Calibri"/>
                <a:hlinkClick r:id="rId8" action="ppaction://hlinksldjump"/>
              </a:rPr>
              <a:t>Key Challenge &amp; Solution – </a:t>
            </a:r>
            <a:r>
              <a:rPr lang="en-US" sz="2200" b="0" strike="noStrike" dirty="0" smtClean="0">
                <a:effectLst/>
                <a:uFillTx/>
                <a:latin typeface="Source Sans Pro"/>
                <a:ea typeface="Calibri"/>
                <a:hlinkClick r:id="rId8" action="ppaction://hlinksldjump"/>
              </a:rPr>
              <a:t>9</a:t>
            </a:r>
            <a:endParaRPr lang="en-US" sz="2200" b="0" strike="noStrike" dirty="0" smtClean="0">
              <a:effectLst/>
              <a:uFillTx/>
              <a:latin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1062990" cy="38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9A0DAD1D-931E-47E3-8A32-99B5CC61471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3</a:t>
            </a:fld>
            <a:r>
              <a:rPr lang="en-US" sz="1800" b="0" u="none" strike="noStrike" dirty="0" smtClean="0">
                <a:effectLst/>
                <a:uFillTx/>
                <a:latin typeface="Source Sans Pro"/>
              </a:rPr>
              <a:t>/</a:t>
            </a:r>
            <a:r>
              <a:rPr lang="ru-RU" sz="1800" b="0" u="none" strike="noStrike" dirty="0" smtClean="0">
                <a:effectLst/>
                <a:uFillTx/>
                <a:latin typeface="Source Sans Pro"/>
              </a:rPr>
              <a:t>9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120" y="309240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1" u="none" strike="noStrike" dirty="0">
                <a:effectLst/>
                <a:uFillTx/>
                <a:latin typeface="Source Sans Pro"/>
              </a:rPr>
              <a:t>PROBLEM </a:t>
            </a:r>
            <a:r>
              <a:rPr lang="ru-RU" sz="2400" b="1" u="none" strike="noStrike" dirty="0" smtClean="0">
                <a:effectLst/>
                <a:uFillTx/>
                <a:latin typeface="Source Sans Pro"/>
              </a:rPr>
              <a:t> </a:t>
            </a:r>
            <a:r>
              <a:rPr lang="en-US" sz="2400" b="1" u="none" strike="noStrike" dirty="0" smtClean="0">
                <a:effectLst/>
                <a:uFillTx/>
                <a:latin typeface="Source Sans Pro"/>
              </a:rPr>
              <a:t>AND </a:t>
            </a:r>
            <a:r>
              <a:rPr lang="en-US" sz="2400" b="1" u="none" strike="noStrike" dirty="0">
                <a:effectLst/>
                <a:uFillTx/>
                <a:latin typeface="Source Sans Pro"/>
              </a:rPr>
              <a:t>GOAL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sp>
        <p:nvSpPr>
          <p:cNvPr id="66" name="Текстовое поле 10"/>
          <p:cNvSpPr/>
          <p:nvPr/>
        </p:nvSpPr>
        <p:spPr>
          <a:xfrm>
            <a:off x="1571760" y="1725120"/>
            <a:ext cx="9048960" cy="513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Why is intelligent traceability needed</a:t>
            </a:r>
            <a:r>
              <a:rPr lang="en-US" sz="2200" b="1" u="none" strike="noStrike" dirty="0" smtClean="0">
                <a:solidFill>
                  <a:schemeClr val="dk1"/>
                </a:solidFill>
                <a:effectLst/>
                <a:uFillTx/>
                <a:latin typeface="Source Sans Pro"/>
              </a:rPr>
              <a:t>?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Industry 4.0 generates massive heterogeneous data (</a:t>
            </a:r>
            <a:r>
              <a:rPr lang="en-US" sz="2200" b="0" u="none" strike="noStrike" dirty="0" err="1">
                <a:solidFill>
                  <a:schemeClr val="dk1"/>
                </a:solidFill>
                <a:effectLst/>
                <a:uFillTx/>
                <a:latin typeface="Source Sans Pro"/>
              </a:rPr>
              <a:t>IoT</a:t>
            </a: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, sensors, CPS)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Supply chains lack real-time transparency and safety assurance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Current systems cannot integrate data from multiple sources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Goal: Create unified, intelligent traceability for product safety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3"/>
          <p:cNvSpPr/>
          <p:nvPr/>
        </p:nvSpPr>
        <p:spPr>
          <a:xfrm>
            <a:off x="11109960" y="6324480"/>
            <a:ext cx="1062990" cy="3620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BFA901F7-FE96-4101-A89D-662352C06BC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4</a:t>
            </a:fld>
            <a:r>
              <a:rPr lang="en-US" sz="1800" b="0" u="none" strike="noStrike" dirty="0" smtClean="0">
                <a:effectLst/>
                <a:uFillTx/>
                <a:latin typeface="Source Sans Pro"/>
              </a:rPr>
              <a:t>/</a:t>
            </a:r>
            <a:r>
              <a:rPr lang="ru-RU" sz="1800" b="0" u="none" strike="noStrike" dirty="0" smtClean="0">
                <a:effectLst/>
                <a:uFillTx/>
                <a:latin typeface="Source Sans Pro"/>
              </a:rPr>
              <a:t>9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8" name="Текстовое поле 4"/>
          <p:cNvSpPr/>
          <p:nvPr/>
        </p:nvSpPr>
        <p:spPr>
          <a:xfrm>
            <a:off x="120" y="330120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400" b="1" u="none" strike="noStrike" dirty="0">
                <a:effectLst/>
                <a:uFillTx/>
                <a:latin typeface="Source Sans Pro"/>
              </a:rPr>
              <a:t>CORE IDEA: THREE-LAYER ARCHITECTURE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032000" y="1268758"/>
          <a:ext cx="8096448" cy="4608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96448"/>
              </a:tblGrid>
              <a:tr h="1536171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latin typeface="Source Sans Pro"/>
                        </a:rPr>
                        <a:t>Layer 1</a:t>
                      </a:r>
                      <a:endParaRPr lang="ru-RU" sz="1800" b="1" dirty="0" smtClean="0">
                        <a:latin typeface="Source Sans Pro"/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 smtClean="0">
                        <a:latin typeface="Source Sans Pro"/>
                      </a:endParaRPr>
                    </a:p>
                    <a:p>
                      <a:pPr algn="ctr"/>
                      <a:r>
                        <a:rPr lang="en-US" sz="2200" b="1" dirty="0" smtClean="0">
                          <a:latin typeface="Source Sans Pro"/>
                        </a:rPr>
                        <a:t>Semantic</a:t>
                      </a:r>
                      <a:endParaRPr lang="ru-RU" sz="2200" b="1" dirty="0" smtClean="0">
                        <a:latin typeface="Source Sans Pro"/>
                      </a:endParaRPr>
                    </a:p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Ontology-based knowledge representation</a:t>
                      </a:r>
                      <a:endParaRPr lang="ru-RU" sz="2200" b="0" dirty="0">
                        <a:solidFill>
                          <a:schemeClr val="tx1"/>
                        </a:solidFill>
                        <a:latin typeface="Source Sans Pro"/>
                      </a:endParaRPr>
                    </a:p>
                  </a:txBody>
                  <a:tcPr anchor="ctr"/>
                </a:tc>
              </a:tr>
              <a:tr h="1536171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latin typeface="Source Sans Pro"/>
                        </a:rPr>
                        <a:t>Layer 2</a:t>
                      </a:r>
                      <a:endParaRPr lang="ru-RU" sz="1800" b="1" dirty="0" smtClean="0">
                        <a:latin typeface="Source Sans Pro"/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 smtClean="0">
                        <a:latin typeface="Source Sans Pro"/>
                      </a:endParaRPr>
                    </a:p>
                    <a:p>
                      <a:pPr algn="ctr"/>
                      <a:r>
                        <a:rPr lang="en-US" sz="2200" b="1" dirty="0" smtClean="0">
                          <a:latin typeface="Source Sans Pro"/>
                        </a:rPr>
                        <a:t>Integration</a:t>
                      </a:r>
                      <a:endParaRPr lang="ru-RU" sz="2200" b="1" dirty="0" smtClean="0">
                        <a:latin typeface="Source Sans Pro"/>
                      </a:endParaRPr>
                    </a:p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Unified data aggregation from heterogeneous sources</a:t>
                      </a:r>
                      <a:endParaRPr lang="ru-RU" sz="2200" dirty="0">
                        <a:solidFill>
                          <a:schemeClr val="tx1"/>
                        </a:solidFill>
                        <a:latin typeface="Source Sans Pro"/>
                      </a:endParaRPr>
                    </a:p>
                  </a:txBody>
                  <a:tcPr anchor="ctr"/>
                </a:tc>
              </a:tr>
              <a:tr h="1536171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latin typeface="Source Sans Pro"/>
                        </a:rPr>
                        <a:t>Layer </a:t>
                      </a:r>
                      <a:r>
                        <a:rPr lang="ru-RU" sz="1800" b="1" dirty="0" smtClean="0">
                          <a:latin typeface="Source Sans Pro"/>
                        </a:rPr>
                        <a:t> 3</a:t>
                      </a: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200" dirty="0" smtClean="0">
                        <a:latin typeface="Source Sans Pro"/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Source Sans Pro"/>
                        </a:rPr>
                        <a:t>Cloud</a:t>
                      </a:r>
                      <a:endParaRPr lang="ru-RU" sz="2200" b="1" dirty="0" smtClean="0">
                        <a:latin typeface="Source Sans Pro"/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Source Sans Pro"/>
                        </a:rPr>
                        <a:t>Remote access and query capabilities</a:t>
                      </a:r>
                      <a:endParaRPr lang="en-US" sz="2200" b="1" dirty="0" smtClean="0">
                        <a:solidFill>
                          <a:schemeClr val="tx1"/>
                        </a:solidFill>
                        <a:latin typeface="Source Sans Pro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1082040" cy="3620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9A0DAD1D-931E-47E3-8A32-99B5CC61471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5</a:t>
            </a:fld>
            <a:r>
              <a:rPr lang="en-US" dirty="0" smtClean="0">
                <a:latin typeface="Source Sans Pro"/>
              </a:rPr>
              <a:t>/</a:t>
            </a:r>
            <a:r>
              <a:rPr lang="ru-RU" dirty="0" smtClean="0">
                <a:latin typeface="Source Sans Pro"/>
              </a:rPr>
              <a:t>9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120" y="321064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400" b="1" u="none" strike="noStrike" dirty="0" smtClean="0">
                <a:effectLst/>
                <a:uFillTx/>
                <a:latin typeface="Source Sans Pro"/>
              </a:rPr>
              <a:t>SYSTEM ARCHITECTURE: ONTOLOGY-BASED MODELING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sp>
        <p:nvSpPr>
          <p:cNvPr id="66" name="Текстовое поле 10"/>
          <p:cNvSpPr/>
          <p:nvPr/>
        </p:nvSpPr>
        <p:spPr>
          <a:xfrm>
            <a:off x="1571760" y="1725120"/>
            <a:ext cx="9048960" cy="1559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Semantic representation of traceability domain</a:t>
            </a:r>
            <a:endParaRPr lang="en-US" sz="2200" b="0" u="none" strike="noStrike" dirty="0" smtClean="0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Classes: Product, Process, Location, Timestamp, Quality</a:t>
            </a:r>
            <a:endParaRPr lang="en-US" sz="2200" b="0" u="none" strike="noStrike" dirty="0" smtClean="0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Relations: </a:t>
            </a:r>
            <a:r>
              <a:rPr lang="en-US" sz="2200" dirty="0" err="1" smtClean="0">
                <a:latin typeface="Source Sans Pro"/>
              </a:rPr>
              <a:t>hasStage</a:t>
            </a:r>
            <a:r>
              <a:rPr lang="en-US" sz="2200" dirty="0" smtClean="0">
                <a:latin typeface="Source Sans Pro"/>
              </a:rPr>
              <a:t>, </a:t>
            </a:r>
            <a:r>
              <a:rPr lang="en-US" sz="2200" dirty="0" err="1" smtClean="0">
                <a:latin typeface="Source Sans Pro"/>
              </a:rPr>
              <a:t>hasQuality</a:t>
            </a:r>
            <a:r>
              <a:rPr lang="en-US" sz="2200" dirty="0" smtClean="0">
                <a:latin typeface="Source Sans Pro"/>
              </a:rPr>
              <a:t>, </a:t>
            </a:r>
            <a:r>
              <a:rPr lang="en-US" sz="2200" dirty="0" err="1" smtClean="0">
                <a:latin typeface="Source Sans Pro"/>
              </a:rPr>
              <a:t>hasLocation</a:t>
            </a:r>
            <a:endParaRPr lang="en-US" sz="2200" dirty="0" smtClean="0">
              <a:latin typeface="Source Sans Pro"/>
            </a:endParaRPr>
          </a:p>
        </p:txBody>
      </p:sp>
      <p:sp>
        <p:nvSpPr>
          <p:cNvPr id="5" name="Текстовое поле 10"/>
          <p:cNvSpPr/>
          <p:nvPr/>
        </p:nvSpPr>
        <p:spPr>
          <a:xfrm>
            <a:off x="1724160" y="3573016"/>
            <a:ext cx="9844448" cy="23042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</a:pPr>
            <a:r>
              <a:rPr lang="en-US" sz="2200" b="1" dirty="0" smtClean="0">
                <a:latin typeface="Source Sans Pro"/>
              </a:rPr>
              <a:t>Let O = {C, R, I} where:</a:t>
            </a: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</a:pPr>
            <a:r>
              <a:rPr lang="en-US" sz="2200" dirty="0" smtClean="0">
                <a:latin typeface="Source Sans Pro"/>
              </a:rPr>
              <a:t>	C = Concepts (Product, Process, Quality, Location, Agent)</a:t>
            </a: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</a:pPr>
            <a:r>
              <a:rPr lang="en-US" sz="2200" dirty="0" smtClean="0">
                <a:latin typeface="Source Sans Pro"/>
              </a:rPr>
              <a:t>	R = Relations (</a:t>
            </a:r>
            <a:r>
              <a:rPr lang="en-US" sz="2200" dirty="0" err="1" smtClean="0">
                <a:latin typeface="Source Sans Pro"/>
              </a:rPr>
              <a:t>hasStage</a:t>
            </a:r>
            <a:r>
              <a:rPr lang="en-US" sz="2200" dirty="0" smtClean="0">
                <a:latin typeface="Source Sans Pro"/>
              </a:rPr>
              <a:t>, </a:t>
            </a:r>
            <a:r>
              <a:rPr lang="en-US" sz="2200" dirty="0" err="1" smtClean="0">
                <a:latin typeface="Source Sans Pro"/>
              </a:rPr>
              <a:t>hasQuality</a:t>
            </a:r>
            <a:r>
              <a:rPr lang="en-US" sz="2200" dirty="0" smtClean="0">
                <a:latin typeface="Source Sans Pro"/>
              </a:rPr>
              <a:t>, </a:t>
            </a:r>
            <a:r>
              <a:rPr lang="en-US" sz="2200" dirty="0" err="1" smtClean="0">
                <a:latin typeface="Source Sans Pro"/>
              </a:rPr>
              <a:t>hasTrace</a:t>
            </a:r>
            <a:r>
              <a:rPr lang="en-US" sz="2200" dirty="0" smtClean="0">
                <a:latin typeface="Source Sans Pro"/>
              </a:rPr>
              <a:t>)</a:t>
            </a: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</a:pPr>
            <a:r>
              <a:rPr lang="en-US" sz="2200" dirty="0" smtClean="0">
                <a:latin typeface="Source Sans Pro"/>
              </a:rPr>
              <a:t>	I = Instances (specific products, timestamps)</a:t>
            </a:r>
            <a:endParaRPr lang="en-US" sz="2200" b="1" dirty="0">
              <a:latin typeface="Source Sans Pro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703512" y="4077072"/>
            <a:ext cx="9865096" cy="187220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">
                <a:schemeClr val="accent5">
                  <a:alpha val="10000"/>
                </a:schemeClr>
              </a:gs>
              <a:gs pos="3000">
                <a:schemeClr val="accent5">
                  <a:alpha val="10000"/>
                </a:schemeClr>
              </a:gs>
              <a:gs pos="2000">
                <a:schemeClr val="accent5">
                  <a:alpha val="1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1062990" cy="38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9A0DAD1D-931E-47E3-8A32-99B5CC61471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6</a:t>
            </a:fld>
            <a:r>
              <a:rPr lang="en-US" sz="1800" b="0" u="none" strike="noStrike" dirty="0" smtClean="0">
                <a:effectLst/>
                <a:uFillTx/>
                <a:latin typeface="Source Sans Pro"/>
              </a:rPr>
              <a:t>/</a:t>
            </a:r>
            <a:r>
              <a:rPr lang="ru-RU" sz="1800" b="0" u="none" strike="noStrike" dirty="0" smtClean="0">
                <a:effectLst/>
                <a:uFillTx/>
                <a:latin typeface="Source Sans Pro"/>
              </a:rPr>
              <a:t>9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120" y="309240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it-IT" sz="2400" b="1" u="none" strike="noStrike" dirty="0" smtClean="0">
                <a:effectLst/>
                <a:uFillTx/>
                <a:latin typeface="Source Sans Pro"/>
              </a:rPr>
              <a:t>DATA INTEGRATION: IOT DATA PROCESSING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sp>
        <p:nvSpPr>
          <p:cNvPr id="66" name="Текстовое поле 10"/>
          <p:cNvSpPr/>
          <p:nvPr/>
        </p:nvSpPr>
        <p:spPr>
          <a:xfrm>
            <a:off x="1571760" y="1725120"/>
            <a:ext cx="9048960" cy="513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en-US" sz="2200" b="1" dirty="0" smtClean="0">
                <a:solidFill>
                  <a:schemeClr val="dk1"/>
                </a:solidFill>
                <a:latin typeface="Source Sans Pro"/>
              </a:rPr>
              <a:t>Processing Pipeline</a:t>
            </a:r>
            <a:endParaRPr lang="en-US" sz="2200" b="0" u="none" strike="noStrike" dirty="0" smtClean="0">
              <a:solidFill>
                <a:schemeClr val="dk1"/>
              </a:solidFill>
              <a:effectLst/>
              <a:uFillTx/>
              <a:latin typeface="Source Sans Pro"/>
            </a:endParaRP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Source Sans Pro"/>
              </a:rPr>
              <a:t>Collection</a:t>
            </a:r>
            <a:r>
              <a:rPr lang="en-US" sz="2200" dirty="0">
                <a:solidFill>
                  <a:srgbClr val="000000"/>
                </a:solidFill>
                <a:latin typeface="Source Sans Pro"/>
              </a:rPr>
              <a:t>: Real-time data from sensors, smart </a:t>
            </a:r>
            <a:r>
              <a:rPr lang="en-US" sz="2200" dirty="0" smtClean="0">
                <a:solidFill>
                  <a:srgbClr val="000000"/>
                </a:solidFill>
                <a:latin typeface="Source Sans Pro"/>
              </a:rPr>
              <a:t>devices</a:t>
            </a: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Source Sans Pro"/>
              </a:rPr>
              <a:t>Normalization</a:t>
            </a:r>
            <a:r>
              <a:rPr lang="en-US" sz="2200" dirty="0">
                <a:solidFill>
                  <a:srgbClr val="000000"/>
                </a:solidFill>
                <a:latin typeface="Source Sans Pro"/>
              </a:rPr>
              <a:t>: Map heterogeneous formats to </a:t>
            </a:r>
            <a:r>
              <a:rPr lang="en-US" sz="2200" dirty="0" smtClean="0">
                <a:solidFill>
                  <a:srgbClr val="000000"/>
                </a:solidFill>
                <a:latin typeface="Source Sans Pro"/>
              </a:rPr>
              <a:t>ontology</a:t>
            </a: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1" dirty="0" smtClean="0">
                <a:latin typeface="Source Sans Pro"/>
              </a:rPr>
              <a:t>Aggregation</a:t>
            </a:r>
            <a:r>
              <a:rPr lang="en-US" sz="2200" dirty="0" smtClean="0">
                <a:latin typeface="Source Sans Pro"/>
              </a:rPr>
              <a:t>: Merge data into unified knowledge </a:t>
            </a:r>
            <a:r>
              <a:rPr lang="en-US" sz="2200" dirty="0" smtClean="0">
                <a:latin typeface="Source Sans Pro"/>
              </a:rPr>
              <a:t>base</a:t>
            </a:r>
            <a:endParaRPr lang="en-US" sz="2200" dirty="0" smtClean="0">
              <a:latin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1062990" cy="38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9A0DAD1D-931E-47E3-8A32-99B5CC61471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7</a:t>
            </a:fld>
            <a:r>
              <a:rPr lang="en-US" sz="1800" b="0" u="none" strike="noStrike" dirty="0" smtClean="0">
                <a:effectLst/>
                <a:uFillTx/>
                <a:latin typeface="Source Sans Pro"/>
              </a:rPr>
              <a:t>/</a:t>
            </a:r>
            <a:r>
              <a:rPr lang="ru-RU" sz="1800" b="0" u="none" strike="noStrike" dirty="0" smtClean="0">
                <a:effectLst/>
                <a:uFillTx/>
                <a:latin typeface="Source Sans Pro"/>
              </a:rPr>
              <a:t>9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120" y="309240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it-IT" sz="2400" b="1" dirty="0" smtClean="0">
                <a:latin typeface="Source Sans Pro"/>
              </a:rPr>
              <a:t>IMPLEMENTATION: CLOUD-BASED PLATFORM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sp>
        <p:nvSpPr>
          <p:cNvPr id="66" name="Текстовое поле 10"/>
          <p:cNvSpPr/>
          <p:nvPr/>
        </p:nvSpPr>
        <p:spPr>
          <a:xfrm>
            <a:off x="1571760" y="1725120"/>
            <a:ext cx="9048960" cy="513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Common knowledge base accessible to all stakeholders</a:t>
            </a:r>
            <a:endParaRPr lang="en-US" sz="2200" dirty="0" smtClean="0">
              <a:solidFill>
                <a:srgbClr val="000000"/>
              </a:solidFill>
              <a:latin typeface="Source Sans Pro"/>
            </a:endParaRP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Query interface for trace retrieval and tracking</a:t>
            </a:r>
            <a:endParaRPr lang="en-US" sz="2200" dirty="0" smtClean="0">
              <a:solidFill>
                <a:srgbClr val="000000"/>
              </a:solidFill>
              <a:latin typeface="Source Sans Pro"/>
            </a:endParaRP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Real-time synchronization across supply chain</a:t>
            </a: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Access control and data privacy </a:t>
            </a:r>
            <a:r>
              <a:rPr lang="en-US" sz="2200" dirty="0" smtClean="0">
                <a:latin typeface="Source Sans Pro"/>
              </a:rPr>
              <a:t>mechanisms</a:t>
            </a:r>
            <a:endParaRPr lang="en-US" sz="2200" dirty="0" smtClean="0">
              <a:latin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1062990" cy="38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9A0DAD1D-931E-47E3-8A32-99B5CC61471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8</a:t>
            </a:fld>
            <a:r>
              <a:rPr lang="en-US" sz="1800" b="0" u="none" strike="noStrike" dirty="0" smtClean="0">
                <a:effectLst/>
                <a:uFillTx/>
                <a:latin typeface="Source Sans Pro"/>
              </a:rPr>
              <a:t>/</a:t>
            </a:r>
            <a:r>
              <a:rPr lang="ru-RU" sz="1800" b="0" u="none" strike="noStrike" dirty="0" smtClean="0">
                <a:effectLst/>
                <a:uFillTx/>
                <a:latin typeface="Source Sans Pro"/>
              </a:rPr>
              <a:t>9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120" y="309240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it-IT" sz="2400" b="1" dirty="0" smtClean="0">
                <a:latin typeface="Source Sans Pro"/>
              </a:rPr>
              <a:t>KEY RESULTS: SYSTEM CAPABILITIES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sp>
        <p:nvSpPr>
          <p:cNvPr id="66" name="Текстовое поле 10"/>
          <p:cNvSpPr/>
          <p:nvPr/>
        </p:nvSpPr>
        <p:spPr>
          <a:xfrm>
            <a:off x="1571760" y="1725120"/>
            <a:ext cx="9048960" cy="513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en-US" sz="2200" b="1" dirty="0" smtClean="0">
                <a:latin typeface="Source Sans Pro"/>
              </a:rPr>
              <a:t>Achieved Outcomes</a:t>
            </a:r>
            <a:endParaRPr lang="en-US" sz="2200" b="0" u="none" strike="noStrike" dirty="0" smtClean="0">
              <a:effectLst/>
              <a:uFillTx/>
              <a:latin typeface="Source Sans Pro"/>
            </a:endParaRP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Solved interoperability challenges</a:t>
            </a: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Automated data integration</a:t>
            </a: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Enhanced transparency</a:t>
            </a: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</a:pPr>
            <a:r>
              <a:rPr lang="en-US" sz="2200" b="1" dirty="0" smtClean="0">
                <a:latin typeface="Source Sans Pro"/>
              </a:rPr>
              <a:t>Practical Benefits</a:t>
            </a:r>
            <a:endParaRPr lang="en-US" sz="2200" dirty="0" smtClean="0">
              <a:latin typeface="Source Sans Pro"/>
            </a:endParaRP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Real-time product tracking</a:t>
            </a: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Quality assurance automation</a:t>
            </a: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Compliance monitoring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1062990" cy="38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9A0DAD1D-931E-47E3-8A32-99B5CC61471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9</a:t>
            </a:fld>
            <a:r>
              <a:rPr lang="en-US" sz="1800" b="0" u="none" strike="noStrike" dirty="0" smtClean="0">
                <a:effectLst/>
                <a:uFillTx/>
                <a:latin typeface="Source Sans Pro"/>
              </a:rPr>
              <a:t>/</a:t>
            </a:r>
            <a:r>
              <a:rPr lang="ru-RU" sz="1800" b="0" u="none" strike="noStrike" dirty="0" smtClean="0">
                <a:effectLst/>
                <a:uFillTx/>
                <a:latin typeface="Source Sans Pro"/>
              </a:rPr>
              <a:t>9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120" y="309240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it-IT" sz="2400" b="1" dirty="0" smtClean="0">
                <a:latin typeface="Source Sans Pro"/>
              </a:rPr>
              <a:t>KEY CHALLENGE &amp; SOLUTION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sp>
        <p:nvSpPr>
          <p:cNvPr id="66" name="Текстовое поле 10"/>
          <p:cNvSpPr/>
          <p:nvPr/>
        </p:nvSpPr>
        <p:spPr>
          <a:xfrm>
            <a:off x="1571760" y="1725120"/>
            <a:ext cx="9048960" cy="513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en-US" sz="2200" b="1" dirty="0" smtClean="0">
                <a:solidFill>
                  <a:schemeClr val="dk1"/>
                </a:solidFill>
                <a:latin typeface="Source Sans Pro"/>
              </a:rPr>
              <a:t>Challenge: </a:t>
            </a:r>
            <a:r>
              <a:rPr lang="en-US" sz="2200" dirty="0" smtClean="0">
                <a:solidFill>
                  <a:schemeClr val="dk1"/>
                </a:solidFill>
                <a:latin typeface="Source Sans Pro"/>
              </a:rPr>
              <a:t>Data Heterogeneity</a:t>
            </a:r>
          </a:p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en-US" sz="2200" dirty="0" smtClean="0">
                <a:latin typeface="Source Sans Pro"/>
              </a:rPr>
              <a:t>Multiple source formats (JSON, XML, sensor streams)</a:t>
            </a:r>
          </a:p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en-US" sz="2200" b="1" dirty="0" smtClean="0">
                <a:latin typeface="Source Sans Pro"/>
              </a:rPr>
              <a:t>Solution</a:t>
            </a:r>
            <a:r>
              <a:rPr lang="en-US" sz="2200" dirty="0" smtClean="0">
                <a:latin typeface="Source Sans Pro"/>
              </a:rPr>
              <a:t>: Semantic Mapping</a:t>
            </a: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Ontology defines unified semantic model</a:t>
            </a: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Transformation rules map source schemas to ontology</a:t>
            </a: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dirty="0" smtClean="0">
                <a:latin typeface="Source Sans Pro"/>
              </a:rPr>
              <a:t>Enables interoperable data exchange</a:t>
            </a:r>
          </a:p>
          <a:p>
            <a:pPr marL="285840" indent="-28584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</a:pPr>
            <a:endParaRPr lang="en-US" sz="2200" dirty="0" smtClean="0">
              <a:latin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Рисунок 6"/>
          <p:cNvPicPr/>
          <p:nvPr/>
        </p:nvPicPr>
        <p:blipFill>
          <a:blip r:embed="rId2" cstate="print"/>
          <a:stretch/>
        </p:blipFill>
        <p:spPr>
          <a:xfrm>
            <a:off x="0" y="1800"/>
            <a:ext cx="1219200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Box 4"/>
          <p:cNvSpPr/>
          <p:nvPr/>
        </p:nvSpPr>
        <p:spPr>
          <a:xfrm>
            <a:off x="6627600" y="2798640"/>
            <a:ext cx="3831480" cy="46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1" u="none" strike="noStrike" dirty="0">
                <a:solidFill>
                  <a:schemeClr val="lt1"/>
                </a:solidFill>
                <a:effectLst/>
                <a:uFillTx/>
                <a:latin typeface="Source Sans Pro"/>
              </a:rPr>
              <a:t>THANK YOU!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102" name="TextBox 1"/>
          <p:cNvSpPr/>
          <p:nvPr/>
        </p:nvSpPr>
        <p:spPr>
          <a:xfrm rot="30600">
            <a:off x="7377805" y="3440583"/>
            <a:ext cx="260463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 dirty="0">
                <a:solidFill>
                  <a:schemeClr val="lt1"/>
                </a:solidFill>
                <a:effectLst/>
                <a:uFillTx/>
                <a:latin typeface="Source Sans Pro"/>
              </a:rPr>
              <a:t>Any questions?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Words>339</Words>
  <Application>Microsoft Office PowerPoint</Application>
  <PresentationFormat>Произвольный</PresentationFormat>
  <Paragraphs>76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student</cp:lastModifiedBy>
  <cp:revision>32</cp:revision>
  <dcterms:created xsi:type="dcterms:W3CDTF">2025-07-23T00:59:00Z</dcterms:created>
  <dcterms:modified xsi:type="dcterms:W3CDTF">2025-12-18T14:01:36Z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73180790FA874D1FBED7C9E9023E4C13_11</vt:lpwstr>
  </property>
  <property fmtid="{D5CDD505-2E9C-101B-9397-08002B2CF9AE}" pid="3" name="KSOProductBuildVer">
    <vt:lpwstr>1049-12.2.0.23155</vt:lpwstr>
  </property>
  <property fmtid="{D5CDD505-2E9C-101B-9397-08002B2CF9AE}" pid="4" name="PresentationFormat">
    <vt:lpwstr>宽屏</vt:lpwstr>
  </property>
  <property fmtid="{D5CDD505-2E9C-101B-9397-08002B2CF9AE}" pid="5" name="Slides">
    <vt:i4>12</vt:i4>
  </property>
</Properties>
</file>