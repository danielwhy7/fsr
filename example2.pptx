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media/image7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323000"/>
            <a:ext cx="9143640" cy="218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9999"/>
          </a:bodyPr>
          <a:p>
            <a:pPr indent="0" algn="ctr" defTabSz="914400">
              <a:lnSpc>
                <a:spcPct val="13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edit Master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>
            <a:off x="838080" y="551520"/>
            <a:ext cx="10515240" cy="555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Заголовок и текст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</a:t>
            </a:r>
            <a:r>
              <a:rPr b="0" lang="ru-RU" sz="4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ец </a:t>
            </a:r>
            <a:r>
              <a:rPr b="0" lang="ru-RU" sz="4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загол</a:t>
            </a:r>
            <a:r>
              <a:rPr b="0" lang="ru-RU" sz="4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овка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текста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Второй уровень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Третий уровень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Четвертый уровень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Пятый уровень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</a:t>
            </a: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to </a:t>
            </a: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edit </a:t>
            </a: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</a:t>
            </a: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 title </a:t>
            </a: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Second level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1960" y="3750840"/>
            <a:ext cx="9842760" cy="81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k to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edit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ter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title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styl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1960" y="4610160"/>
            <a:ext cx="7321320" cy="64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to 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 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1430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6002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0574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98176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1430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6002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0574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to 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 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9880" y="174492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839880" y="2615760"/>
            <a:ext cx="5157360" cy="357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172200" y="174492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172200" y="2615760"/>
            <a:ext cx="5182920" cy="357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36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2766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46920" y="127080"/>
            <a:ext cx="416484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4000" y="766440"/>
            <a:ext cx="5816880" cy="509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651960" y="2057400"/>
            <a:ext cx="416484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9824400" y="365040"/>
            <a:ext cx="15289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887976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5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8" descr=""/>
          <p:cNvPicPr/>
          <p:nvPr/>
        </p:nvPicPr>
        <p:blipFill>
          <a:blip r:embed="rId1"/>
          <a:stretch/>
        </p:blipFill>
        <p:spPr>
          <a:xfrm>
            <a:off x="10080" y="1800"/>
            <a:ext cx="12191760" cy="685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Текстовое поле 3"/>
          <p:cNvSpPr/>
          <p:nvPr/>
        </p:nvSpPr>
        <p:spPr>
          <a:xfrm>
            <a:off x="7092360" y="2722320"/>
            <a:ext cx="33645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Introduction to Traceability in Industry 4.0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59" name="Текстовое поле 4"/>
          <p:cNvSpPr/>
          <p:nvPr/>
        </p:nvSpPr>
        <p:spPr>
          <a:xfrm>
            <a:off x="7092360" y="4503600"/>
            <a:ext cx="336456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Bikmetov Daniel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6114-100503D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60" name="Текстовое поле 5"/>
          <p:cNvSpPr/>
          <p:nvPr/>
        </p:nvSpPr>
        <p:spPr>
          <a:xfrm>
            <a:off x="6743160" y="6068160"/>
            <a:ext cx="406368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Sumara, 2025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Текстовое поле 3"/>
          <p:cNvSpPr/>
          <p:nvPr/>
        </p:nvSpPr>
        <p:spPr>
          <a:xfrm>
            <a:off x="4128840" y="319320"/>
            <a:ext cx="396792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CONTENTS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62" name="TextBox 3"/>
          <p:cNvSpPr/>
          <p:nvPr/>
        </p:nvSpPr>
        <p:spPr>
          <a:xfrm>
            <a:off x="11109960" y="6324480"/>
            <a:ext cx="4687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E85AE379-71A9-4E0A-8923-F665DD3AEEB5}" type="slidenum">
              <a:rPr b="0" lang="ru-RU" sz="18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effectLst/>
                <a:uFillTx/>
                <a:latin typeface="Source Sans Pro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1907280" y="1514880"/>
            <a:ext cx="8411040" cy="39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1" action="ppaction://hlinksldjump"/>
              </a:rPr>
              <a:t>Problem and Goal – 3;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2" action="ppaction://hlinksldjump"/>
              </a:rPr>
              <a:t>Core Idea: Probability on a Deadline– 4;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3" action="ppaction://hlinksldjump"/>
              </a:rPr>
              <a:t>Bayesian Inference in Real-Time – 5;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4" action="ppaction://hlinksldjump"/>
              </a:rPr>
              <a:t>RTPP System Architecture– 6;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5" action="ppaction://hlinksldjump"/>
              </a:rPr>
              <a:t>Algorithm Choice: Accuracy vs Speed–</a:t>
            </a: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6" action="ppaction://hlinksldjump"/>
              </a:rPr>
              <a:t>7;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7" action="ppaction://hlinksldjump"/>
              </a:rPr>
              <a:t>Hardware for Acceleration – 8;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8" action="ppaction://hlinksldjump"/>
              </a:rPr>
              <a:t>Use Case: Autonomous Vehicle– 9;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9" action="ppaction://hlinksldjump"/>
              </a:rPr>
              <a:t>Key Challenge &amp; Solution – 10;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10" action="ppaction://hlinksldjump"/>
              </a:rPr>
              <a:t>Conclusion – 11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2"/>
          <p:cNvSpPr/>
          <p:nvPr/>
        </p:nvSpPr>
        <p:spPr>
          <a:xfrm>
            <a:off x="11109960" y="6324480"/>
            <a:ext cx="46872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C24E3156-997F-49E5-852C-7342BCA6688C}" type="slidenum">
              <a:rPr b="0" lang="ru-RU" sz="18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effectLst/>
                <a:uFillTx/>
                <a:latin typeface="Source Sans Pro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65" name="Текстовое поле 6"/>
          <p:cNvSpPr/>
          <p:nvPr/>
        </p:nvSpPr>
        <p:spPr>
          <a:xfrm>
            <a:off x="3009960" y="309240"/>
            <a:ext cx="617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PROBLEM AND GOAL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66" name="Текстовое поле 10"/>
          <p:cNvSpPr/>
          <p:nvPr/>
        </p:nvSpPr>
        <p:spPr>
          <a:xfrm>
            <a:off x="1571760" y="1725120"/>
            <a:ext cx="9048960" cy="32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The Challenge: Determinism vs. Uncertainty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The Mismatch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Traditional Real-Time (RT) Systems: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Assumed to be deterministic;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Real-World Environment: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 Is uncertain (sensor noise, variable delays, unpredictable events);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Result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: Hard timing guarantees (deadlines) conflict with the need to handle probabilities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Presentation Goal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Introduce Real-Time Probabilistic Programming (RTPP) – a framework that: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Explicitly models uncertainty using probability distributions;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Guarantees that all computations respect strict timing constraints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3"/>
          <p:cNvSpPr/>
          <p:nvPr/>
        </p:nvSpPr>
        <p:spPr>
          <a:xfrm>
            <a:off x="11109960" y="6324480"/>
            <a:ext cx="4687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80AD1855-10E4-4748-9B17-B5147E17A735}" type="slidenum">
              <a:rPr b="0" lang="ru-RU" sz="18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effectLst/>
                <a:uFillTx/>
                <a:latin typeface="Source Sans Pro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68" name="Текстовое поле 4"/>
          <p:cNvSpPr/>
          <p:nvPr/>
        </p:nvSpPr>
        <p:spPr>
          <a:xfrm>
            <a:off x="2536200" y="330120"/>
            <a:ext cx="711972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CORE IDEA: PROBALITY ON DEADLINE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69" name="Текстовое поле 5"/>
          <p:cNvSpPr/>
          <p:nvPr/>
        </p:nvSpPr>
        <p:spPr>
          <a:xfrm>
            <a:off x="1538640" y="1508040"/>
            <a:ext cx="9114480" cy="39531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3"/>
          <p:cNvSpPr/>
          <p:nvPr/>
        </p:nvSpPr>
        <p:spPr>
          <a:xfrm>
            <a:off x="11109960" y="6324480"/>
            <a:ext cx="4687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2FFC6A71-731F-498E-84D6-8DB7E25CC119}" type="slidenum">
              <a:rPr b="0" lang="ru-RU" sz="18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effectLst/>
                <a:uFillTx/>
                <a:latin typeface="Source Sans Pro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71" name="Текстовое поле 8"/>
          <p:cNvSpPr/>
          <p:nvPr/>
        </p:nvSpPr>
        <p:spPr>
          <a:xfrm>
            <a:off x="1130400" y="308520"/>
            <a:ext cx="993096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BAYESIAN INFERENCE IN REAL-TIME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72" name="Текстовое поле 9"/>
          <p:cNvSpPr/>
          <p:nvPr/>
        </p:nvSpPr>
        <p:spPr>
          <a:xfrm>
            <a:off x="945000" y="988200"/>
            <a:ext cx="10483560" cy="50619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3"/>
          <p:cNvSpPr/>
          <p:nvPr/>
        </p:nvSpPr>
        <p:spPr>
          <a:xfrm>
            <a:off x="11109960" y="6324480"/>
            <a:ext cx="4687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8A2DDFDE-E17E-4040-BD1A-D2A73E3AEE5D}" type="slidenum">
              <a:rPr b="0" lang="ru-RU" sz="18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effectLst/>
                <a:uFillTx/>
                <a:latin typeface="Source Sans Pro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12528720" y="9006480"/>
            <a:ext cx="5013720" cy="353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20000"/>
              </a:lnSpc>
            </a:pPr>
            <a:endParaRPr b="1" lang="ru-RU" sz="2050" strike="noStrike" u="none">
              <a:solidFill>
                <a:schemeClr val="dk1"/>
              </a:solidFill>
              <a:effectLst/>
              <a:uFillTx/>
              <a:latin typeface="Elektra Text Pro"/>
              <a:ea typeface="Calibri"/>
            </a:endParaRPr>
          </a:p>
        </p:txBody>
      </p:sp>
      <p:sp>
        <p:nvSpPr>
          <p:cNvPr id="75" name="Текстовое поле 13"/>
          <p:cNvSpPr/>
          <p:nvPr/>
        </p:nvSpPr>
        <p:spPr>
          <a:xfrm>
            <a:off x="710640" y="264240"/>
            <a:ext cx="1086840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RTPP SYSTEM ARCHITECTURE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76" name="Текстовое поле 14"/>
          <p:cNvSpPr/>
          <p:nvPr/>
        </p:nvSpPr>
        <p:spPr>
          <a:xfrm>
            <a:off x="6096600" y="1463760"/>
            <a:ext cx="5669640" cy="35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Internal Architecture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Key Components: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Probabilistic Model: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Specifies uncertainties and temporal constraints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Real-Time Scheduler: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Accounts for probabilistic task characteristics;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Probabilistic Inference Engine: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Performs computations with time guarantees;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Execution Platform (Hardware):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 CPU, GPU, or specialized FPGA/ASIC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pic>
        <p:nvPicPr>
          <p:cNvPr id="77" name="Изображение 15" descr="Рисунок1"/>
          <p:cNvPicPr/>
          <p:nvPr/>
        </p:nvPicPr>
        <p:blipFill>
          <a:blip r:embed="rId1"/>
          <a:stretch/>
        </p:blipFill>
        <p:spPr>
          <a:xfrm>
            <a:off x="513720" y="1563480"/>
            <a:ext cx="5582520" cy="277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Текстовое поле 16"/>
          <p:cNvSpPr/>
          <p:nvPr/>
        </p:nvSpPr>
        <p:spPr>
          <a:xfrm>
            <a:off x="768240" y="4458240"/>
            <a:ext cx="54428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Figure 1: High-level architecture of an RTPP system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3"/>
          <p:cNvSpPr/>
          <p:nvPr/>
        </p:nvSpPr>
        <p:spPr>
          <a:xfrm>
            <a:off x="11109960" y="6324480"/>
            <a:ext cx="4687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95DAB2B2-BDBF-4DB4-988E-8EB64975A4AF}" type="slidenum">
              <a:rPr b="0" lang="ru-RU" sz="18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effectLst/>
                <a:uFillTx/>
                <a:latin typeface="Source Sans Pro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80" name="Текстовое поле 1"/>
          <p:cNvSpPr/>
          <p:nvPr/>
        </p:nvSpPr>
        <p:spPr>
          <a:xfrm>
            <a:off x="1353240" y="319320"/>
            <a:ext cx="968724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ALGORITHM CHOICE: ACCURACY VS SPEED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81" name="Текстовое поле 2"/>
          <p:cNvSpPr/>
          <p:nvPr/>
        </p:nvSpPr>
        <p:spPr>
          <a:xfrm>
            <a:off x="975240" y="1094040"/>
            <a:ext cx="1046196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Not All Inference Algorithms Are Fit for RTPP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Table 1: Comparison of inference algorithms for RTPP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graphicFrame>
        <p:nvGraphicFramePr>
          <p:cNvPr id="82" name="Таблица 4"/>
          <p:cNvGraphicFramePr/>
          <p:nvPr/>
        </p:nvGraphicFramePr>
        <p:xfrm>
          <a:off x="1353240" y="1999080"/>
          <a:ext cx="8530920" cy="3431160"/>
        </p:xfrm>
        <a:graphic>
          <a:graphicData uri="http://schemas.openxmlformats.org/drawingml/2006/table">
            <a:tbl>
              <a:tblPr/>
              <a:tblGrid>
                <a:gridCol w="1706040"/>
                <a:gridCol w="1706040"/>
                <a:gridCol w="1706040"/>
                <a:gridCol w="1706040"/>
                <a:gridCol w="1706040"/>
              </a:tblGrid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Algorithm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Avg. Accuracy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WCET Bound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Memory Use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RTPP Suitability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Markov Chain Monte Carlo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95%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Unbounded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High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Low (unpredictable time)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Variational Inference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85%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15 ms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Medium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High (bounded WCET)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Sequential Monte Carlo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92%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22 ms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High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Medium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Approx. Bayesian Comp.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78%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8 ms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Low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Very High (fast, less accurate)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3" name="Текстовое поле 12"/>
          <p:cNvSpPr/>
          <p:nvPr/>
        </p:nvSpPr>
        <p:spPr>
          <a:xfrm>
            <a:off x="975240" y="4925520"/>
            <a:ext cx="84456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Key Insight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: In RTPP, we often trade peak accuracy for temporal predictability.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Текстовое поле 2"/>
          <p:cNvSpPr/>
          <p:nvPr/>
        </p:nvSpPr>
        <p:spPr>
          <a:xfrm>
            <a:off x="2370960" y="309240"/>
            <a:ext cx="744876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HARDWARE FOR ACCELERATION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85" name="Текстовое поле 3"/>
          <p:cNvSpPr/>
          <p:nvPr/>
        </p:nvSpPr>
        <p:spPr>
          <a:xfrm>
            <a:off x="858600" y="1009080"/>
            <a:ext cx="1100340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Choosing the Right Hardware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Table 2: Hardware platforms for RTPP acceleration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graphicFrame>
        <p:nvGraphicFramePr>
          <p:cNvPr id="86" name="Таблица 5"/>
          <p:cNvGraphicFramePr/>
          <p:nvPr/>
        </p:nvGraphicFramePr>
        <p:xfrm>
          <a:off x="1001520" y="1787040"/>
          <a:ext cx="8530920" cy="3050280"/>
        </p:xfrm>
        <a:graphic>
          <a:graphicData uri="http://schemas.openxmlformats.org/drawingml/2006/table">
            <a:tbl>
              <a:tblPr/>
              <a:tblGrid>
                <a:gridCol w="1706040"/>
                <a:gridCol w="1706040"/>
                <a:gridCol w="1706040"/>
                <a:gridCol w="1706040"/>
                <a:gridCol w="1706040"/>
              </a:tblGrid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Platform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Probabilistic Ops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Determinism Level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Power Use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Flexibility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CPU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Software emulation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High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Medium-High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High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GPU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Parallel sampling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Low-Medium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High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Medium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FPGA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Custom inference engines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High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Medium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Medium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ASIC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Dedicated probability units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Very High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Low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Low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7" name="Текстовое поле 7"/>
          <p:cNvSpPr/>
          <p:nvPr/>
        </p:nvSpPr>
        <p:spPr>
          <a:xfrm>
            <a:off x="1028160" y="5062680"/>
            <a:ext cx="875376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Trend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: Specialized FPGAs and ASICs are the future for embedded RTPP systems needing efficiency and predictability.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88" name="Текстовое поле 8"/>
          <p:cNvSpPr/>
          <p:nvPr/>
        </p:nvSpPr>
        <p:spPr>
          <a:xfrm>
            <a:off x="11225520" y="6325200"/>
            <a:ext cx="2754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effectLst/>
                <a:uFillTx/>
                <a:latin typeface="Source Sans Pro"/>
              </a:rPr>
              <a:t>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3"/>
          <p:cNvSpPr/>
          <p:nvPr/>
        </p:nvSpPr>
        <p:spPr>
          <a:xfrm>
            <a:off x="11109960" y="6324480"/>
            <a:ext cx="4687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5800373D-DA80-436D-A19C-824EE86FAB7A}" type="slidenum">
              <a:rPr b="0" lang="ru-RU" sz="1800" strike="noStrike" u="none">
                <a:solidFill>
                  <a:schemeClr val="lt1"/>
                </a:solidFill>
                <a:effectLst/>
                <a:uFillTx/>
                <a:latin typeface="Elektra Medium Pro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90" name="Текстовое поле 1"/>
          <p:cNvSpPr/>
          <p:nvPr/>
        </p:nvSpPr>
        <p:spPr>
          <a:xfrm>
            <a:off x="1066680" y="330120"/>
            <a:ext cx="1005876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USE CASE: AUTONOMOUS VEHICLE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91" name="Текстовое поле 2"/>
          <p:cNvSpPr/>
          <p:nvPr/>
        </p:nvSpPr>
        <p:spPr>
          <a:xfrm>
            <a:off x="6095520" y="1019880"/>
            <a:ext cx="5160960" cy="48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Application: Real-Time Pedestrian Trajectory Prediction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The RTPP Task: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Acquire data from camera/LiDAR (noisy, incomplete);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Update the probabilistic model of pedestrian trajectory (Bayesian inference);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Compute the optimal response (brake/steer);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Guarantee this entire pipeline meets the critical deadline (e.g., 100 ms)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Outcome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: A decision with a confidence estimate (e.g., "Maneuver A is safe with 99.7% probability"), made on time.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pic>
        <p:nvPicPr>
          <p:cNvPr id="92" name="Изображение 4" descr="Рисунок2"/>
          <p:cNvPicPr/>
          <p:nvPr/>
        </p:nvPicPr>
        <p:blipFill>
          <a:blip r:embed="rId1"/>
          <a:stretch/>
        </p:blipFill>
        <p:spPr>
          <a:xfrm>
            <a:off x="1198080" y="1228680"/>
            <a:ext cx="4956480" cy="30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Текстовое поле 5"/>
          <p:cNvSpPr/>
          <p:nvPr/>
        </p:nvSpPr>
        <p:spPr>
          <a:xfrm>
            <a:off x="1199520" y="4574520"/>
            <a:ext cx="49388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Figure 2: Timing diagram with probabilistic task execution times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3"/>
          <p:cNvSpPr/>
          <p:nvPr/>
        </p:nvSpPr>
        <p:spPr>
          <a:xfrm>
            <a:off x="11109960" y="6324480"/>
            <a:ext cx="4687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90787F28-947D-4395-A80E-AFBAB4B674ED}" type="slidenum">
              <a:rPr b="0" lang="ru-RU" sz="1800" strike="noStrike" u="none">
                <a:solidFill>
                  <a:schemeClr val="lt1"/>
                </a:solidFill>
                <a:effectLst/>
                <a:uFillTx/>
                <a:latin typeface="Elektra Medium Pro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95" name="Текстовое поле 1"/>
          <p:cNvSpPr/>
          <p:nvPr/>
        </p:nvSpPr>
        <p:spPr>
          <a:xfrm>
            <a:off x="1505520" y="276840"/>
            <a:ext cx="9146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KEY CHALLENGE &amp; SOLUTION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96" name="Текстовое поле 2"/>
          <p:cNvSpPr/>
          <p:nvPr/>
        </p:nvSpPr>
        <p:spPr>
          <a:xfrm>
            <a:off x="816120" y="966600"/>
            <a:ext cx="11013840" cy="39646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Текстовое поле 2"/>
          <p:cNvSpPr/>
          <p:nvPr/>
        </p:nvSpPr>
        <p:spPr>
          <a:xfrm>
            <a:off x="3139920" y="309240"/>
            <a:ext cx="603720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CONCLUSION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98" name="Текстовое поле 3"/>
          <p:cNvSpPr/>
          <p:nvPr/>
        </p:nvSpPr>
        <p:spPr>
          <a:xfrm>
            <a:off x="11087280" y="6356880"/>
            <a:ext cx="5724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effectLst/>
                <a:uFillTx/>
                <a:latin typeface="Source Sans Pro"/>
              </a:rPr>
              <a:t>11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99" name="Текстовое поле 4"/>
          <p:cNvSpPr/>
          <p:nvPr/>
        </p:nvSpPr>
        <p:spPr>
          <a:xfrm>
            <a:off x="964440" y="1429920"/>
            <a:ext cx="10408680" cy="23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Key Takeaways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RTPP bridges the probabilistic world of uncertainty with the deterministic world of real-time guarantees;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Core Metric: Probability of meeting a deadline P(X≤D);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Involves Trade-offs: Inference accuracy ↔ Temporal predictability;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Spans All Levels: From mathematical models and algorithms to specialized hardware (FPGA/ASIC);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Critical for autonomous systems, robotics, medical devices – where uncertainty exists, but delay is unacceptable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Рисунок 6" descr=""/>
          <p:cNvPicPr/>
          <p:nvPr/>
        </p:nvPicPr>
        <p:blipFill>
          <a:blip r:embed="rId1"/>
          <a:stretch/>
        </p:blipFill>
        <p:spPr>
          <a:xfrm>
            <a:off x="0" y="1800"/>
            <a:ext cx="12191760" cy="685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Box 4"/>
          <p:cNvSpPr/>
          <p:nvPr/>
        </p:nvSpPr>
        <p:spPr>
          <a:xfrm>
            <a:off x="6627600" y="2798640"/>
            <a:ext cx="383148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THANK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Elektra Text Pro"/>
              </a:rPr>
              <a:t>YOU!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102" name="TextBox 1"/>
          <p:cNvSpPr/>
          <p:nvPr/>
        </p:nvSpPr>
        <p:spPr>
          <a:xfrm rot="30600">
            <a:off x="7451640" y="3750480"/>
            <a:ext cx="217548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Any questions?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LibreOffice/25.2.4.3$Linux_X86_64 LibreOffice_project/520$Build-3</Application>
  <AppVersion>15.0000</AppVersion>
  <Words>4688</Words>
  <Paragraphs>246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2025-07-23T00:59:00Z</dcterms:created>
  <dc:creator/>
  <dc:description/>
  <dc:language>en-US</dc:language>
  <cp:lastModifiedBy/>
  <dcterms:modified xsi:type="dcterms:W3CDTF">2025-12-18T11:47:14Z</dcterms:modified>
  <cp:revision>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73180790FA874D1FBED7C9E9023E4C13_11</vt:lpwstr>
  </property>
  <property fmtid="{D5CDD505-2E9C-101B-9397-08002B2CF9AE}" pid="3" name="KSOProductBuildVer">
    <vt:lpwstr>1049-12.2.0.23155</vt:lpwstr>
  </property>
  <property fmtid="{D5CDD505-2E9C-101B-9397-08002B2CF9AE}" pid="4" name="PresentationFormat">
    <vt:lpwstr>宽屏</vt:lpwstr>
  </property>
  <property fmtid="{D5CDD505-2E9C-101B-9397-08002B2CF9AE}" pid="5" name="Slides">
    <vt:i4>12</vt:i4>
  </property>
</Properties>
</file>