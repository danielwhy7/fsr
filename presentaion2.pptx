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docProps/custom.xml" ContentType="application/vnd.openxmlformats-officedocument.custom-properties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8" r:id="rId6"/>
    <p:sldId id="275" r:id="rId7"/>
    <p:sldId id="274" r:id="rId8"/>
    <p:sldId id="269" r:id="rId9"/>
    <p:sldId id="270" r:id="rId10"/>
    <p:sldId id="271" r:id="rId11"/>
    <p:sldId id="272" r:id="rId12"/>
    <p:sldId id="267" r:id="rId13"/>
  </p:sldIdLst>
  <p:sldSz cx="12192000" cy="6858000"/>
  <p:notesSz cx="7772400" cy="100584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50" d="100"/>
          <a:sy n="50" d="100"/>
        </p:scale>
        <p:origin x="-354" y="-1266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1523880" y="1323000"/>
            <a:ext cx="9143640" cy="2186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fontScale="92500" lnSpcReduction="9999"/>
          </a:bodyPr>
          <a:lstStyle/>
          <a:p>
            <a:pPr indent="0" algn="ctr" defTabSz="914400">
              <a:lnSpc>
                <a:spcPct val="13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body"/>
          </p:nvPr>
        </p:nvSpPr>
        <p:spPr>
          <a:xfrm>
            <a:off x="838080" y="551520"/>
            <a:ext cx="10515240" cy="5558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Fifth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ru-RU" sz="4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lang="en-U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Образец текста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Второй уровень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Третий уровень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Четвертый уровень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Пятый уровень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11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12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647640" y="25848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1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64764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Second level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16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17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831960" y="3750840"/>
            <a:ext cx="9842760" cy="81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831960" y="4610160"/>
            <a:ext cx="7321320" cy="64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Calibri Light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21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22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47640" y="25848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4764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15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685800" lvl="1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1143000" lvl="2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1600200" lvl="3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2057400" lvl="4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598176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15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685800" lvl="1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1143000" lvl="2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1600200" lvl="3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2057400" lvl="4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27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28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839880" y="174492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839880" y="2615760"/>
            <a:ext cx="5157360" cy="357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Fifth level</a:t>
            </a: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6172200" y="174492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6172200" y="2615760"/>
            <a:ext cx="5182920" cy="357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Fifth level</a:t>
            </a:r>
          </a:p>
        </p:txBody>
      </p:sp>
      <p:sp>
        <p:nvSpPr>
          <p:cNvPr id="34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35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36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838080" y="27662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39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40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42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43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646920" y="127080"/>
            <a:ext cx="416484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5184000" y="766440"/>
            <a:ext cx="5816880" cy="5094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Seventh Outline Level</a:t>
            </a:r>
          </a:p>
        </p:txBody>
      </p:sp>
      <p:sp>
        <p:nvSpPr>
          <p:cNvPr id="48" name="PlaceHolder 3"/>
          <p:cNvSpPr>
            <a:spLocks noGrp="1"/>
          </p:cNvSpPr>
          <p:nvPr>
            <p:ph type="body"/>
          </p:nvPr>
        </p:nvSpPr>
        <p:spPr>
          <a:xfrm>
            <a:off x="651960" y="2057400"/>
            <a:ext cx="416484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15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text styles</a:t>
            </a:r>
          </a:p>
        </p:txBody>
      </p:sp>
      <p:sp>
        <p:nvSpPr>
          <p:cNvPr id="49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50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51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9824400" y="365040"/>
            <a:ext cx="152892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887976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Fifth level</a:t>
            </a:r>
          </a:p>
        </p:txBody>
      </p:sp>
      <p:sp>
        <p:nvSpPr>
          <p:cNvPr id="54" name="PlaceHolder 3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55" name="PlaceHolder 4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56" name="PlaceHolder 5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9.xml"/><Relationship Id="rId3" Type="http://schemas.openxmlformats.org/officeDocument/2006/relationships/slide" Target="slide4.xml"/><Relationship Id="rId7" Type="http://schemas.openxmlformats.org/officeDocument/2006/relationships/slide" Target="slide8.xml"/><Relationship Id="rId2" Type="http://schemas.openxmlformats.org/officeDocument/2006/relationships/slide" Target="slide3.xml"/><Relationship Id="rId1" Type="http://schemas.openxmlformats.org/officeDocument/2006/relationships/slideLayout" Target="../slideLayouts/slideLayout9.xml"/><Relationship Id="rId6" Type="http://schemas.openxmlformats.org/officeDocument/2006/relationships/slide" Target="slide7.xml"/><Relationship Id="rId11" Type="http://schemas.openxmlformats.org/officeDocument/2006/relationships/slide" Target="slide12.xml"/><Relationship Id="rId5" Type="http://schemas.openxmlformats.org/officeDocument/2006/relationships/slide" Target="slide6.xml"/><Relationship Id="rId10" Type="http://schemas.openxmlformats.org/officeDocument/2006/relationships/slide" Target="slide11.xml"/><Relationship Id="rId4" Type="http://schemas.openxmlformats.org/officeDocument/2006/relationships/slide" Target="slide5.xml"/><Relationship Id="rId9" Type="http://schemas.openxmlformats.org/officeDocument/2006/relationships/slide" Target="slide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Рисунок 8"/>
          <p:cNvPicPr/>
          <p:nvPr/>
        </p:nvPicPr>
        <p:blipFill>
          <a:blip r:embed="rId2" cstate="print">
            <a:biLevel thresh="50000"/>
            <a:lum bright="13000"/>
          </a:blip>
          <a:stretch/>
        </p:blipFill>
        <p:spPr>
          <a:xfrm>
            <a:off x="-24680" y="0"/>
            <a:ext cx="12385376" cy="6885384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" name="Текстовое поле 3"/>
          <p:cNvSpPr/>
          <p:nvPr/>
        </p:nvSpPr>
        <p:spPr>
          <a:xfrm>
            <a:off x="6196696" y="1977480"/>
            <a:ext cx="5155888" cy="104498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spcBef>
                <a:spcPts val="300"/>
              </a:spcBef>
              <a:spcAft>
                <a:spcPts val="300"/>
              </a:spcAft>
            </a:pPr>
            <a:r>
              <a:rPr lang="en-US" sz="1900" b="1" u="none" strike="noStrike" dirty="0">
                <a:solidFill>
                  <a:schemeClr val="lt1"/>
                </a:solidFill>
                <a:effectLst/>
                <a:uFillTx/>
                <a:latin typeface="Source Sans Pro"/>
              </a:rPr>
              <a:t>Introduction to Traceability in Industry 4.0</a:t>
            </a:r>
            <a:endParaRPr lang="en-US" sz="1900" b="1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  <a:p>
            <a:pPr defTabSz="914400">
              <a:spcBef>
                <a:spcPts val="300"/>
              </a:spcBef>
              <a:spcAft>
                <a:spcPts val="300"/>
              </a:spcAft>
            </a:pPr>
            <a:r>
              <a:rPr lang="en-US" sz="1900" b="0" u="none" strike="noStrike" dirty="0">
                <a:solidFill>
                  <a:schemeClr val="lt1"/>
                </a:solidFill>
                <a:effectLst/>
                <a:uFillTx/>
                <a:latin typeface="Source Sans Pro"/>
              </a:rPr>
              <a:t>Intelligent Systems for Supply Chain Management</a:t>
            </a:r>
            <a:endParaRPr lang="en-US" sz="19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</p:txBody>
      </p:sp>
      <p:sp>
        <p:nvSpPr>
          <p:cNvPr id="59" name="Текстовое поле 4"/>
          <p:cNvSpPr/>
          <p:nvPr/>
        </p:nvSpPr>
        <p:spPr>
          <a:xfrm>
            <a:off x="6412720" y="4503600"/>
            <a:ext cx="4723840" cy="94162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b="0" u="none" strike="noStrike" dirty="0" err="1">
                <a:solidFill>
                  <a:schemeClr val="lt1"/>
                </a:solidFill>
                <a:effectLst/>
                <a:uFillTx/>
                <a:latin typeface="Source Sans Pro"/>
              </a:rPr>
              <a:t>Bikmetov</a:t>
            </a:r>
            <a:r>
              <a:rPr lang="en-US" b="0" u="none" strike="noStrike" dirty="0">
                <a:solidFill>
                  <a:schemeClr val="lt1"/>
                </a:solidFill>
                <a:effectLst/>
                <a:uFillTx/>
                <a:latin typeface="Source Sans Pro"/>
              </a:rPr>
              <a:t> </a:t>
            </a:r>
            <a:r>
              <a:rPr lang="en-US" b="0" u="none" strike="noStrike" dirty="0" smtClean="0">
                <a:solidFill>
                  <a:schemeClr val="lt1"/>
                </a:solidFill>
                <a:effectLst/>
                <a:uFillTx/>
                <a:latin typeface="Source Sans Pro"/>
              </a:rPr>
              <a:t>Daniel</a:t>
            </a:r>
            <a:r>
              <a:rPr lang="ru-RU" dirty="0">
                <a:solidFill>
                  <a:srgbClr val="000000"/>
                </a:solidFill>
                <a:latin typeface="Source Sans Pro"/>
              </a:rPr>
              <a:t> </a:t>
            </a:r>
            <a:r>
              <a:rPr lang="en-US" b="0" u="none" strike="noStrike" dirty="0" smtClean="0">
                <a:solidFill>
                  <a:schemeClr val="lt1"/>
                </a:solidFill>
                <a:effectLst/>
                <a:uFillTx/>
                <a:latin typeface="Source Sans Pro"/>
              </a:rPr>
              <a:t>6114-100503D</a:t>
            </a:r>
            <a:endParaRPr lang="ru-RU" b="0" u="none" strike="noStrike" dirty="0" smtClean="0">
              <a:solidFill>
                <a:schemeClr val="lt1"/>
              </a:solidFill>
              <a:effectLst/>
              <a:uFillTx/>
              <a:latin typeface="Source Sans Pro"/>
            </a:endParaRPr>
          </a:p>
          <a:p>
            <a:pPr algn="ctr" defTabSz="914400">
              <a:lnSpc>
                <a:spcPct val="100000"/>
              </a:lnSpc>
            </a:pPr>
            <a:r>
              <a:rPr lang="en-US" dirty="0" err="1" smtClean="0">
                <a:solidFill>
                  <a:schemeClr val="lt1"/>
                </a:solidFill>
                <a:latin typeface="Source Sans Pro"/>
              </a:rPr>
              <a:t>Krupenskiy</a:t>
            </a:r>
            <a:r>
              <a:rPr lang="en-US" dirty="0" smtClean="0">
                <a:solidFill>
                  <a:schemeClr val="lt1"/>
                </a:solidFill>
                <a:latin typeface="Source Sans Pro"/>
              </a:rPr>
              <a:t> Roman 6114-100503D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</p:txBody>
      </p:sp>
      <p:sp>
        <p:nvSpPr>
          <p:cNvPr id="60" name="Текстовое поле 5"/>
          <p:cNvSpPr/>
          <p:nvPr/>
        </p:nvSpPr>
        <p:spPr>
          <a:xfrm>
            <a:off x="6743160" y="6068160"/>
            <a:ext cx="406368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b="0" u="none" strike="noStrike" dirty="0" err="1">
                <a:solidFill>
                  <a:schemeClr val="lt1"/>
                </a:solidFill>
                <a:effectLst/>
                <a:uFillTx/>
                <a:latin typeface="Source Sans Pro"/>
              </a:rPr>
              <a:t>Sumara</a:t>
            </a:r>
            <a:r>
              <a:rPr lang="en-US" b="0" u="none" strike="noStrike" dirty="0">
                <a:solidFill>
                  <a:schemeClr val="lt1"/>
                </a:solidFill>
                <a:effectLst/>
                <a:uFillTx/>
                <a:latin typeface="Source Sans Pro"/>
              </a:rPr>
              <a:t>, 2025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pic>
        <p:nvPicPr>
          <p:cNvPr id="1026" name="Picture 2" descr="C:\Users\student\Music\FSR\meme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-24680" y="1484784"/>
            <a:ext cx="4056698" cy="3045569"/>
          </a:xfrm>
          <a:prstGeom prst="rect">
            <a:avLst/>
          </a:prstGeom>
          <a:noFill/>
        </p:spPr>
      </p:pic>
    </p:spTree>
  </p:cSld>
  <p:clrMapOvr>
    <a:masterClrMapping/>
  </p:clrMapOvr>
  <mc:AlternateContent xmlns:mc="http://schemas.openxmlformats.org/markup-compatibility/2006">
    <mc:Choice xmlns:p15="http://schemas.microsoft.com/office/powerpoint/2012/main" xmlns:p14="http://schemas.microsoft.com/office/powerpoint/2010/main" xmlns="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Текстовое поле 3"/>
          <p:cNvSpPr/>
          <p:nvPr/>
        </p:nvSpPr>
        <p:spPr>
          <a:xfrm>
            <a:off x="0" y="319320"/>
            <a:ext cx="1219200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2400" b="1" dirty="0" smtClean="0">
                <a:latin typeface="Source Sans Pro"/>
              </a:rPr>
              <a:t>PRESENTATION OUTLINE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sp>
        <p:nvSpPr>
          <p:cNvPr id="62" name="TextBox 3"/>
          <p:cNvSpPr/>
          <p:nvPr/>
        </p:nvSpPr>
        <p:spPr>
          <a:xfrm>
            <a:off x="11109960" y="6324480"/>
            <a:ext cx="1043940" cy="38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dirty="0" smtClean="0">
                <a:latin typeface="Source Sans Pro"/>
              </a:rPr>
              <a:t>2</a:t>
            </a:r>
            <a:r>
              <a:rPr lang="ru-RU" dirty="0" smtClean="0">
                <a:latin typeface="Source Sans Pro"/>
              </a:rPr>
              <a:t>/</a:t>
            </a:r>
            <a:r>
              <a:rPr lang="en-US" dirty="0" smtClean="0">
                <a:latin typeface="Source Sans Pro"/>
              </a:rPr>
              <a:t>12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3" name="TextBox 4"/>
          <p:cNvSpPr/>
          <p:nvPr/>
        </p:nvSpPr>
        <p:spPr bwMode="gray">
          <a:xfrm>
            <a:off x="1907280" y="1514880"/>
            <a:ext cx="8411040" cy="5124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anchor="t">
            <a:spAutoFit/>
          </a:bodyPr>
          <a:lstStyle/>
          <a:p>
            <a:pPr marL="343080" indent="-343080" defTabSz="91440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lang="en-US" sz="2200" b="0" strike="noStrike" dirty="0">
                <a:effectLst/>
                <a:uFillTx/>
                <a:latin typeface="Source Sans Pro"/>
                <a:ea typeface="Calibri"/>
                <a:hlinkClick r:id="rId2" action="ppaction://hlinksldjump"/>
              </a:rPr>
              <a:t>Problem and Goal – </a:t>
            </a:r>
            <a:r>
              <a:rPr lang="en-US" sz="2200" b="0" strike="noStrike" dirty="0" smtClean="0">
                <a:effectLst/>
                <a:uFillTx/>
                <a:latin typeface="Source Sans Pro"/>
                <a:ea typeface="Calibri"/>
                <a:hlinkClick r:id="rId2" action="ppaction://hlinksldjump"/>
              </a:rPr>
              <a:t>3</a:t>
            </a:r>
            <a:endParaRPr lang="en-US" sz="2200" b="0" strike="noStrike" dirty="0">
              <a:effectLst/>
              <a:uFillTx/>
              <a:latin typeface="Source Sans Pro"/>
            </a:endParaRPr>
          </a:p>
          <a:p>
            <a:pPr marL="343080" indent="-34308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lang="en-US" sz="2200" dirty="0" smtClean="0">
                <a:latin typeface="Source Sans Pro"/>
                <a:ea typeface="Calibri"/>
                <a:hlinkClick r:id="rId3" action="ppaction://hlinksldjump"/>
              </a:rPr>
              <a:t>Core Idea: Three-Layer Architecture – </a:t>
            </a:r>
            <a:r>
              <a:rPr lang="en-US" sz="2200" b="0" strike="noStrike" dirty="0" smtClean="0">
                <a:effectLst/>
                <a:uFillTx/>
                <a:latin typeface="Source Sans Pro"/>
                <a:ea typeface="Calibri"/>
                <a:hlinkClick r:id="rId3" action="ppaction://hlinksldjump"/>
              </a:rPr>
              <a:t>4</a:t>
            </a:r>
            <a:endParaRPr lang="en-US" sz="2200" b="0" strike="noStrike" dirty="0" smtClean="0">
              <a:effectLst/>
              <a:uFillTx/>
              <a:latin typeface="Source Sans Pro"/>
            </a:endParaRPr>
          </a:p>
          <a:p>
            <a:pPr marL="343080" indent="-34308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lang="en-US" sz="2200" dirty="0" smtClean="0">
                <a:latin typeface="Source Sans Pro"/>
                <a:ea typeface="Calibri"/>
                <a:hlinkClick r:id="rId4" action="ppaction://hlinksldjump"/>
              </a:rPr>
              <a:t>System architecture: Ontology-Based Modeling </a:t>
            </a:r>
            <a:r>
              <a:rPr lang="en-US" sz="2200" b="0" strike="noStrike" dirty="0">
                <a:effectLst/>
                <a:uFillTx/>
                <a:latin typeface="Source Sans Pro"/>
                <a:ea typeface="Calibri"/>
                <a:hlinkClick r:id="rId4" action="ppaction://hlinksldjump"/>
              </a:rPr>
              <a:t>– </a:t>
            </a:r>
            <a:r>
              <a:rPr lang="en-US" sz="2200" b="0" strike="noStrike" dirty="0" smtClean="0">
                <a:effectLst/>
                <a:uFillTx/>
                <a:latin typeface="Source Sans Pro"/>
                <a:ea typeface="Calibri"/>
                <a:hlinkClick r:id="rId4" action="ppaction://hlinksldjump"/>
              </a:rPr>
              <a:t>5</a:t>
            </a:r>
            <a:endParaRPr lang="en-US" sz="2200" b="0" strike="noStrike" dirty="0" smtClean="0">
              <a:effectLst/>
              <a:uFillTx/>
              <a:latin typeface="Source Sans Pro"/>
              <a:ea typeface="Calibri"/>
            </a:endParaRPr>
          </a:p>
          <a:p>
            <a:pPr marL="800280" lvl="1" indent="-343080">
              <a:lnSpc>
                <a:spcPct val="150000"/>
              </a:lnSpc>
              <a:buClr>
                <a:srgbClr val="000000"/>
              </a:buClr>
              <a:buFont typeface="Arial" pitchFamily="34" charset="0"/>
              <a:buChar char="•"/>
            </a:pPr>
            <a:r>
              <a:rPr lang="en-US" sz="2200" dirty="0" smtClean="0">
                <a:latin typeface="Source Sans Pro"/>
                <a:ea typeface="Calibri"/>
                <a:hlinkClick r:id="rId5" action="ppaction://hlinksldjump"/>
              </a:rPr>
              <a:t>System architecture: </a:t>
            </a:r>
            <a:r>
              <a:rPr lang="en-US" sz="2200" dirty="0" smtClean="0">
                <a:latin typeface="Source Sans Pro"/>
                <a:hlinkClick r:id="rId5" action="ppaction://hlinksldjump"/>
              </a:rPr>
              <a:t>Table 1 </a:t>
            </a:r>
            <a:r>
              <a:rPr lang="en-US" sz="2200" dirty="0" smtClean="0">
                <a:latin typeface="Source Sans Pro"/>
                <a:ea typeface="Calibri"/>
                <a:hlinkClick r:id="rId5" action="ppaction://hlinksldjump"/>
              </a:rPr>
              <a:t>– 6</a:t>
            </a:r>
            <a:endParaRPr lang="en-US" sz="2200" dirty="0" smtClean="0">
              <a:latin typeface="Source Sans Pro"/>
              <a:ea typeface="Calibri"/>
              <a:hlinkClick r:id="rId6" action="ppaction://hlinksldjump"/>
            </a:endParaRPr>
          </a:p>
          <a:p>
            <a:pPr marL="800280" lvl="1" indent="-343080">
              <a:lnSpc>
                <a:spcPct val="150000"/>
              </a:lnSpc>
              <a:buClr>
                <a:srgbClr val="000000"/>
              </a:buClr>
              <a:buFont typeface="Arial" pitchFamily="34" charset="0"/>
              <a:buChar char="•"/>
            </a:pPr>
            <a:r>
              <a:rPr lang="en-US" sz="2200" dirty="0" smtClean="0">
                <a:latin typeface="Source Sans Pro"/>
                <a:ea typeface="Calibri"/>
                <a:hlinkClick r:id="rId6" action="ppaction://hlinksldjump"/>
              </a:rPr>
              <a:t>System architecture: Image 1 –7</a:t>
            </a:r>
            <a:endParaRPr lang="en-US" sz="2200" b="0" strike="noStrike" dirty="0">
              <a:effectLst/>
              <a:uFillTx/>
              <a:latin typeface="Source Sans Pro"/>
            </a:endParaRPr>
          </a:p>
          <a:p>
            <a:pPr marL="343080" indent="-34308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lang="it-IT" sz="2200" dirty="0" smtClean="0">
                <a:latin typeface="Source Sans Pro"/>
                <a:ea typeface="Calibri"/>
                <a:hlinkClick r:id="rId7" action="ppaction://hlinksldjump"/>
              </a:rPr>
              <a:t>Data Integration: IoT Data Processing</a:t>
            </a:r>
            <a:r>
              <a:rPr lang="en-US" sz="2200" b="0" strike="noStrike" dirty="0" smtClean="0">
                <a:effectLst/>
                <a:uFillTx/>
                <a:latin typeface="Source Sans Pro"/>
                <a:ea typeface="Calibri"/>
                <a:hlinkClick r:id="rId7" action="ppaction://hlinksldjump"/>
              </a:rPr>
              <a:t> – 8</a:t>
            </a:r>
            <a:endParaRPr lang="en-US" sz="2200" b="0" strike="noStrike" dirty="0">
              <a:effectLst/>
              <a:uFillTx/>
              <a:latin typeface="Source Sans Pro"/>
            </a:endParaRPr>
          </a:p>
          <a:p>
            <a:pPr marL="343080" indent="-34308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lang="en-US" sz="2200" dirty="0" smtClean="0">
                <a:latin typeface="Source Sans Pro"/>
                <a:ea typeface="Calibri"/>
                <a:hlinkClick r:id="rId8" action="ppaction://hlinksldjump"/>
              </a:rPr>
              <a:t>Implementation: Cloud-Based Platform – 9 </a:t>
            </a:r>
            <a:endParaRPr lang="en-US" sz="2200" b="0" strike="noStrike" dirty="0" smtClean="0">
              <a:effectLst/>
              <a:uFillTx/>
              <a:latin typeface="Source Sans Pro"/>
            </a:endParaRPr>
          </a:p>
          <a:p>
            <a:pPr marL="343080" indent="-34308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lang="en-US" sz="2200" dirty="0" smtClean="0">
                <a:latin typeface="Source Sans Pro"/>
                <a:ea typeface="Calibri"/>
                <a:hlinkClick r:id="rId9" action="ppaction://hlinksldjump"/>
              </a:rPr>
              <a:t>Key Results: System Capabilities – 10</a:t>
            </a:r>
            <a:endParaRPr lang="en-US" sz="2200" b="0" strike="noStrike" dirty="0" smtClean="0">
              <a:effectLst/>
              <a:uFillTx/>
              <a:latin typeface="Source Sans Pro"/>
            </a:endParaRPr>
          </a:p>
          <a:p>
            <a:pPr marL="343080" indent="-34308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lang="en-US" sz="2200" dirty="0" smtClean="0">
                <a:latin typeface="Source Sans Pro"/>
                <a:ea typeface="Calibri"/>
                <a:hlinkClick r:id="rId10" action="ppaction://hlinksldjump"/>
              </a:rPr>
              <a:t>Key Challenge &amp; Solution – 11</a:t>
            </a:r>
            <a:endParaRPr lang="en-US" sz="2200" b="0" strike="noStrike" dirty="0" smtClean="0">
              <a:effectLst/>
              <a:uFillTx/>
              <a:latin typeface="Source Sans Pro"/>
            </a:endParaRPr>
          </a:p>
          <a:p>
            <a:pPr marL="343080" indent="-343080" defTabSz="91440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lang="en-US" sz="2200" dirty="0" smtClean="0">
                <a:latin typeface="Source Sans Pro"/>
                <a:ea typeface="Calibri"/>
                <a:hlinkClick r:id="rId9" action="ppaction://hlinksldjump"/>
              </a:rPr>
              <a:t>Conclusion </a:t>
            </a:r>
            <a:r>
              <a:rPr lang="en-US" sz="2200" dirty="0">
                <a:latin typeface="Source Sans Pro"/>
                <a:ea typeface="Calibri"/>
                <a:hlinkClick r:id="rId9" action="ppaction://hlinksldjump"/>
              </a:rPr>
              <a:t>– </a:t>
            </a:r>
            <a:r>
              <a:rPr lang="en-US" sz="2200" dirty="0" smtClean="0">
                <a:latin typeface="Source Sans Pro"/>
                <a:ea typeface="Calibri"/>
                <a:hlinkClick r:id="rId9" action="ppaction://hlinksldjump"/>
              </a:rPr>
              <a:t>12</a:t>
            </a:r>
            <a:endParaRPr lang="en-US" sz="2200" dirty="0">
              <a:latin typeface="Source Sans Pro"/>
              <a:ea typeface="Calibri"/>
              <a:hlinkClick r:id="rId11" action="ppaction://hlinksldjump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xmlns:p14="http://schemas.microsoft.com/office/powerpoint/2010/main" xmlns="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11109960" y="6324480"/>
            <a:ext cx="1062990" cy="38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9A0DAD1D-931E-47E3-8A32-99B5CC61471B}" type="slidenum">
              <a:rPr lang="ru-RU" sz="1800" b="0" u="none" strike="noStrike" smtClean="0">
                <a:effectLst/>
                <a:uFillTx/>
                <a:latin typeface="Source Sans Pro"/>
              </a:rPr>
              <a:pPr defTabSz="914400">
                <a:lnSpc>
                  <a:spcPct val="100000"/>
                </a:lnSpc>
              </a:pPr>
              <a:t>3</a:t>
            </a:fld>
            <a:r>
              <a:rPr lang="en-US" sz="1800" b="0" u="none" strike="noStrike" dirty="0" smtClean="0">
                <a:effectLst/>
                <a:uFillTx/>
                <a:latin typeface="Source Sans Pro"/>
              </a:rPr>
              <a:t>/12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5" name="Текстовое поле 6"/>
          <p:cNvSpPr/>
          <p:nvPr/>
        </p:nvSpPr>
        <p:spPr>
          <a:xfrm>
            <a:off x="120" y="309240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1" u="none" strike="noStrike" dirty="0">
                <a:effectLst/>
                <a:uFillTx/>
                <a:latin typeface="Source Sans Pro"/>
              </a:rPr>
              <a:t>PROBLEM </a:t>
            </a:r>
            <a:r>
              <a:rPr lang="ru-RU" sz="2400" b="1" u="none" strike="noStrike" dirty="0" smtClean="0">
                <a:effectLst/>
                <a:uFillTx/>
                <a:latin typeface="Source Sans Pro"/>
              </a:rPr>
              <a:t> </a:t>
            </a:r>
            <a:r>
              <a:rPr lang="en-US" sz="2400" b="1" u="none" strike="noStrike" dirty="0" smtClean="0">
                <a:effectLst/>
                <a:uFillTx/>
                <a:latin typeface="Source Sans Pro"/>
              </a:rPr>
              <a:t>AND </a:t>
            </a:r>
            <a:r>
              <a:rPr lang="en-US" sz="2400" b="1" u="none" strike="noStrike" dirty="0">
                <a:effectLst/>
                <a:uFillTx/>
                <a:latin typeface="Source Sans Pro"/>
              </a:rPr>
              <a:t>GOAL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sp>
        <p:nvSpPr>
          <p:cNvPr id="66" name="Текстовое поле 10"/>
          <p:cNvSpPr/>
          <p:nvPr/>
        </p:nvSpPr>
        <p:spPr>
          <a:xfrm>
            <a:off x="1571760" y="1725120"/>
            <a:ext cx="9048960" cy="513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Why is intelligent traceability needed</a:t>
            </a:r>
            <a:r>
              <a:rPr lang="en-US" sz="2200" b="1" u="none" strike="noStrike" dirty="0" smtClean="0">
                <a:solidFill>
                  <a:schemeClr val="dk1"/>
                </a:solidFill>
                <a:effectLst/>
                <a:uFillTx/>
                <a:latin typeface="Source Sans Pro"/>
              </a:rPr>
              <a:t>?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  <a:p>
            <a:pPr marL="285840" indent="-285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b="0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Industry 4.0 generates massive heterogeneous data (</a:t>
            </a:r>
            <a:r>
              <a:rPr lang="en-US" sz="2200" b="0" u="none" strike="noStrike" dirty="0" err="1">
                <a:solidFill>
                  <a:schemeClr val="dk1"/>
                </a:solidFill>
                <a:effectLst/>
                <a:uFillTx/>
                <a:latin typeface="Source Sans Pro"/>
              </a:rPr>
              <a:t>IoT</a:t>
            </a:r>
            <a:r>
              <a:rPr lang="en-US" sz="2200" b="0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, sensors, CPS)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  <a:p>
            <a:pPr marL="285840" indent="-285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b="0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Supply chains lack real-time transparency and safety assurance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  <a:p>
            <a:pPr marL="285840" indent="-285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b="0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Current systems cannot integrate data from multiple sources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  <a:p>
            <a:pPr marL="285840" indent="-285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b="0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Goal: Create unified, intelligent traceability for product safety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xmlns:p14="http://schemas.microsoft.com/office/powerpoint/2010/main" xmlns="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Box 3"/>
          <p:cNvSpPr/>
          <p:nvPr/>
        </p:nvSpPr>
        <p:spPr>
          <a:xfrm>
            <a:off x="11109960" y="6324480"/>
            <a:ext cx="1062990" cy="36207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BFA901F7-FE96-4101-A89D-662352C06BCB}" type="slidenum">
              <a:rPr lang="ru-RU" sz="1800" b="0" u="none" strike="noStrike" smtClean="0">
                <a:effectLst/>
                <a:uFillTx/>
                <a:latin typeface="Source Sans Pro"/>
              </a:rPr>
              <a:pPr defTabSz="914400">
                <a:lnSpc>
                  <a:spcPct val="100000"/>
                </a:lnSpc>
              </a:pPr>
              <a:t>4</a:t>
            </a:fld>
            <a:r>
              <a:rPr lang="en-US" sz="1800" b="0" u="none" strike="noStrike" dirty="0" smtClean="0">
                <a:effectLst/>
                <a:uFillTx/>
                <a:latin typeface="Source Sans Pro"/>
              </a:rPr>
              <a:t>/12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8" name="Текстовое поле 4"/>
          <p:cNvSpPr/>
          <p:nvPr/>
        </p:nvSpPr>
        <p:spPr>
          <a:xfrm>
            <a:off x="120" y="330120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400" b="1" u="none" strike="noStrike" dirty="0">
                <a:effectLst/>
                <a:uFillTx/>
                <a:latin typeface="Source Sans Pro"/>
              </a:rPr>
              <a:t>CORE IDEA: THREE-LAYER ARCHITECTURE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graphicFrame>
        <p:nvGraphicFramePr>
          <p:cNvPr id="7" name="Таблица 6"/>
          <p:cNvGraphicFramePr>
            <a:graphicFrameLocks noGrp="1"/>
          </p:cNvGraphicFramePr>
          <p:nvPr/>
        </p:nvGraphicFramePr>
        <p:xfrm>
          <a:off x="2032000" y="1268758"/>
          <a:ext cx="8096448" cy="460851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096448"/>
              </a:tblGrid>
              <a:tr h="1536171">
                <a:tc>
                  <a:txBody>
                    <a:bodyPr/>
                    <a:lstStyle/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smtClean="0">
                          <a:latin typeface="Source Sans Pro"/>
                        </a:rPr>
                        <a:t>Layer 1</a:t>
                      </a:r>
                      <a:endParaRPr lang="ru-RU" sz="1800" b="1" dirty="0" smtClean="0">
                        <a:latin typeface="Source Sans Pro"/>
                      </a:endParaRPr>
                    </a:p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200" dirty="0" smtClean="0">
                        <a:latin typeface="Source Sans Pro"/>
                      </a:endParaRPr>
                    </a:p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Semantic</a:t>
                      </a:r>
                      <a:endParaRPr lang="ru-RU" sz="2200" b="1" dirty="0" smtClean="0">
                        <a:latin typeface="Source Sans Pro"/>
                      </a:endParaRPr>
                    </a:p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Ontology-based knowledge representation</a:t>
                      </a:r>
                      <a:endParaRPr lang="ru-RU" sz="2200" b="0" dirty="0">
                        <a:solidFill>
                          <a:schemeClr val="tx1"/>
                        </a:solidFill>
                        <a:latin typeface="Source Sans Pro"/>
                      </a:endParaRPr>
                    </a:p>
                  </a:txBody>
                  <a:tcPr anchor="ctr"/>
                </a:tc>
              </a:tr>
              <a:tr h="1536171">
                <a:tc>
                  <a:txBody>
                    <a:bodyPr/>
                    <a:lstStyle/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smtClean="0">
                          <a:latin typeface="Source Sans Pro"/>
                        </a:rPr>
                        <a:t>Layer 2</a:t>
                      </a:r>
                      <a:endParaRPr lang="ru-RU" sz="1800" b="1" dirty="0" smtClean="0">
                        <a:latin typeface="Source Sans Pro"/>
                      </a:endParaRPr>
                    </a:p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200" dirty="0" smtClean="0">
                        <a:latin typeface="Source Sans Pro"/>
                      </a:endParaRPr>
                    </a:p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Integration</a:t>
                      </a:r>
                      <a:endParaRPr lang="ru-RU" sz="2200" b="1" dirty="0" smtClean="0">
                        <a:latin typeface="Source Sans Pro"/>
                      </a:endParaRPr>
                    </a:p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Unified data aggregation from heterogeneous sources</a:t>
                      </a:r>
                      <a:endParaRPr lang="ru-RU" sz="2200" dirty="0">
                        <a:solidFill>
                          <a:schemeClr val="tx1"/>
                        </a:solidFill>
                        <a:latin typeface="Source Sans Pro"/>
                      </a:endParaRPr>
                    </a:p>
                  </a:txBody>
                  <a:tcPr anchor="ctr"/>
                </a:tc>
              </a:tr>
              <a:tr h="1536171">
                <a:tc>
                  <a:txBody>
                    <a:bodyPr/>
                    <a:lstStyle/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smtClean="0">
                          <a:latin typeface="Source Sans Pro"/>
                        </a:rPr>
                        <a:t>Layer </a:t>
                      </a:r>
                      <a:r>
                        <a:rPr lang="ru-RU" sz="1800" b="1" dirty="0" smtClean="0">
                          <a:latin typeface="Source Sans Pro"/>
                        </a:rPr>
                        <a:t> 3</a:t>
                      </a:r>
                    </a:p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2200" dirty="0" smtClean="0">
                        <a:latin typeface="Source Sans Pro"/>
                      </a:endParaRPr>
                    </a:p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b="1" dirty="0" smtClean="0">
                          <a:latin typeface="Source Sans Pro"/>
                        </a:rPr>
                        <a:t>Cloud</a:t>
                      </a:r>
                      <a:endParaRPr lang="ru-RU" sz="2200" b="1" dirty="0" smtClean="0">
                        <a:latin typeface="Source Sans Pro"/>
                      </a:endParaRPr>
                    </a:p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dirty="0" smtClean="0">
                          <a:latin typeface="Source Sans Pro"/>
                        </a:rPr>
                        <a:t>Remote access and query capabilities</a:t>
                      </a:r>
                      <a:endParaRPr lang="en-US" sz="2200" b="1" dirty="0" smtClean="0">
                        <a:solidFill>
                          <a:schemeClr val="tx1"/>
                        </a:solidFill>
                        <a:latin typeface="Source Sans Pro"/>
                        <a:ea typeface="+mn-ea"/>
                        <a:cs typeface="+mn-cs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="http://schemas.microsoft.com/office/powerpoint/2012/main" xmlns:p14="http://schemas.microsoft.com/office/powerpoint/2010/main" xmlns="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11109960" y="6324480"/>
            <a:ext cx="1082040" cy="36207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9A0DAD1D-931E-47E3-8A32-99B5CC61471B}" type="slidenum">
              <a:rPr lang="ru-RU" sz="1800" b="0" u="none" strike="noStrike" smtClean="0">
                <a:effectLst/>
                <a:uFillTx/>
                <a:latin typeface="Source Sans Pro"/>
              </a:rPr>
              <a:pPr defTabSz="914400">
                <a:lnSpc>
                  <a:spcPct val="100000"/>
                </a:lnSpc>
              </a:pPr>
              <a:t>5</a:t>
            </a:fld>
            <a:r>
              <a:rPr lang="en-US" dirty="0" smtClean="0">
                <a:latin typeface="Source Sans Pro"/>
              </a:rPr>
              <a:t>/12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5" name="Текстовое поле 6"/>
          <p:cNvSpPr/>
          <p:nvPr/>
        </p:nvSpPr>
        <p:spPr>
          <a:xfrm>
            <a:off x="120" y="321064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>
              <a:spcBef>
                <a:spcPts val="1191"/>
              </a:spcBef>
              <a:spcAft>
                <a:spcPts val="992"/>
              </a:spcAft>
            </a:pPr>
            <a:r>
              <a:rPr lang="en-US" sz="2400" b="1" u="none" strike="noStrike" dirty="0" smtClean="0">
                <a:effectLst/>
                <a:uFillTx/>
                <a:latin typeface="Source Sans Pro"/>
              </a:rPr>
              <a:t>SYSTEM </a:t>
            </a:r>
            <a:r>
              <a:rPr lang="ru-RU" sz="2400" b="1" u="none" strike="noStrike" dirty="0" smtClean="0">
                <a:effectLst/>
                <a:uFillTx/>
                <a:latin typeface="Source Sans Pro"/>
              </a:rPr>
              <a:t> </a:t>
            </a:r>
            <a:r>
              <a:rPr lang="en-US" sz="2400" b="1" u="none" strike="noStrike" dirty="0" smtClean="0">
                <a:effectLst/>
                <a:uFillTx/>
                <a:latin typeface="Source Sans Pro"/>
              </a:rPr>
              <a:t>ARCHITECTURE: ONTOLOGY-BASED MODELING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sp>
        <p:nvSpPr>
          <p:cNvPr id="66" name="Текстовое поле 10"/>
          <p:cNvSpPr/>
          <p:nvPr/>
        </p:nvSpPr>
        <p:spPr>
          <a:xfrm>
            <a:off x="1571760" y="1725120"/>
            <a:ext cx="9048960" cy="155986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Semantic representation of traceability domain</a:t>
            </a:r>
            <a:endParaRPr lang="en-US" sz="2200" b="0" u="none" strike="noStrike" dirty="0" smtClean="0">
              <a:solidFill>
                <a:srgbClr val="000000"/>
              </a:solidFill>
              <a:effectLst/>
              <a:uFillTx/>
              <a:latin typeface="Source Sans Pro"/>
            </a:endParaRP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Classes: Product, Process, Location, Timestamp, Quality</a:t>
            </a:r>
            <a:endParaRPr lang="en-US" sz="2200" b="0" u="none" strike="noStrike" dirty="0" smtClean="0">
              <a:solidFill>
                <a:srgbClr val="000000"/>
              </a:solidFill>
              <a:effectLst/>
              <a:uFillTx/>
              <a:latin typeface="Source Sans Pro"/>
            </a:endParaRP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Relations: </a:t>
            </a:r>
            <a:r>
              <a:rPr lang="en-US" sz="2200" dirty="0" err="1" smtClean="0">
                <a:latin typeface="Source Sans Pro"/>
              </a:rPr>
              <a:t>hasStage</a:t>
            </a:r>
            <a:r>
              <a:rPr lang="en-US" sz="2200" dirty="0" smtClean="0">
                <a:latin typeface="Source Sans Pro"/>
              </a:rPr>
              <a:t>, </a:t>
            </a:r>
            <a:r>
              <a:rPr lang="en-US" sz="2200" dirty="0" err="1" smtClean="0">
                <a:latin typeface="Source Sans Pro"/>
              </a:rPr>
              <a:t>hasQuality</a:t>
            </a:r>
            <a:r>
              <a:rPr lang="en-US" sz="2200" dirty="0" smtClean="0">
                <a:latin typeface="Source Sans Pro"/>
              </a:rPr>
              <a:t>, </a:t>
            </a:r>
            <a:r>
              <a:rPr lang="en-US" sz="2200" dirty="0" err="1" smtClean="0">
                <a:latin typeface="Source Sans Pro"/>
              </a:rPr>
              <a:t>hasLocation</a:t>
            </a:r>
            <a:endParaRPr lang="en-US" sz="2200" dirty="0" smtClean="0">
              <a:latin typeface="Source Sans Pro"/>
            </a:endParaRPr>
          </a:p>
        </p:txBody>
      </p:sp>
      <p:sp>
        <p:nvSpPr>
          <p:cNvPr id="5" name="Текстовое поле 10"/>
          <p:cNvSpPr/>
          <p:nvPr/>
        </p:nvSpPr>
        <p:spPr>
          <a:xfrm>
            <a:off x="1724160" y="3573016"/>
            <a:ext cx="9844448" cy="230425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r>
              <a:rPr lang="en-US" sz="2200" b="1" dirty="0" smtClean="0">
                <a:latin typeface="Source Sans Pro"/>
              </a:rPr>
              <a:t>Let O = {C, R, I} where: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r>
              <a:rPr lang="en-US" sz="2200" dirty="0" smtClean="0">
                <a:latin typeface="Source Sans Pro"/>
              </a:rPr>
              <a:t>	C = Concepts (Product, Process, Quality, Location, Agent)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r>
              <a:rPr lang="en-US" sz="2200" dirty="0" smtClean="0">
                <a:latin typeface="Source Sans Pro"/>
              </a:rPr>
              <a:t>	R = Relations (</a:t>
            </a:r>
            <a:r>
              <a:rPr lang="en-US" sz="2200" dirty="0" err="1" smtClean="0">
                <a:latin typeface="Source Sans Pro"/>
              </a:rPr>
              <a:t>hasStage</a:t>
            </a:r>
            <a:r>
              <a:rPr lang="en-US" sz="2200" dirty="0" smtClean="0">
                <a:latin typeface="Source Sans Pro"/>
              </a:rPr>
              <a:t>, </a:t>
            </a:r>
            <a:r>
              <a:rPr lang="en-US" sz="2200" dirty="0" err="1" smtClean="0">
                <a:latin typeface="Source Sans Pro"/>
              </a:rPr>
              <a:t>hasQuality</a:t>
            </a:r>
            <a:r>
              <a:rPr lang="en-US" sz="2200" dirty="0" smtClean="0">
                <a:latin typeface="Source Sans Pro"/>
              </a:rPr>
              <a:t>, </a:t>
            </a:r>
            <a:r>
              <a:rPr lang="en-US" sz="2200" dirty="0" err="1" smtClean="0">
                <a:latin typeface="Source Sans Pro"/>
              </a:rPr>
              <a:t>hasTrace</a:t>
            </a:r>
            <a:r>
              <a:rPr lang="en-US" sz="2200" dirty="0" smtClean="0">
                <a:latin typeface="Source Sans Pro"/>
              </a:rPr>
              <a:t>)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r>
              <a:rPr lang="en-US" sz="2200" dirty="0" smtClean="0">
                <a:latin typeface="Source Sans Pro"/>
              </a:rPr>
              <a:t>	I = Instances (specific products, timestamps)</a:t>
            </a:r>
            <a:endParaRPr lang="en-US" sz="2200" b="1" dirty="0">
              <a:latin typeface="Source Sans Pro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1703512" y="4077072"/>
            <a:ext cx="9865096" cy="1872208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">
                <a:schemeClr val="accent5">
                  <a:alpha val="10000"/>
                </a:schemeClr>
              </a:gs>
              <a:gs pos="3000">
                <a:schemeClr val="accent5">
                  <a:alpha val="10000"/>
                </a:schemeClr>
              </a:gs>
              <a:gs pos="2000">
                <a:schemeClr val="accent5">
                  <a:alpha val="10000"/>
                </a:schemeClr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xmlns:p14="http://schemas.microsoft.com/office/powerpoint/2010/main" xmlns="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11109960" y="6324480"/>
            <a:ext cx="1082040" cy="36207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9A0DAD1D-931E-47E3-8A32-99B5CC61471B}" type="slidenum">
              <a:rPr lang="ru-RU" sz="1800" b="0" u="none" strike="noStrike" smtClean="0">
                <a:effectLst/>
                <a:uFillTx/>
                <a:latin typeface="Source Sans Pro"/>
              </a:rPr>
              <a:pPr defTabSz="914400">
                <a:lnSpc>
                  <a:spcPct val="100000"/>
                </a:lnSpc>
              </a:pPr>
              <a:t>6</a:t>
            </a:fld>
            <a:r>
              <a:rPr lang="en-US" dirty="0" smtClean="0">
                <a:latin typeface="Source Sans Pro"/>
              </a:rPr>
              <a:t>/12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5" name="Текстовое поле 6"/>
          <p:cNvSpPr/>
          <p:nvPr/>
        </p:nvSpPr>
        <p:spPr>
          <a:xfrm>
            <a:off x="120" y="321064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>
              <a:spcBef>
                <a:spcPts val="1191"/>
              </a:spcBef>
              <a:spcAft>
                <a:spcPts val="992"/>
              </a:spcAft>
            </a:pPr>
            <a:r>
              <a:rPr lang="en-US" sz="2400" b="1" dirty="0" smtClean="0">
                <a:latin typeface="Source Sans Pro"/>
              </a:rPr>
              <a:t>SYSTEM </a:t>
            </a:r>
            <a:r>
              <a:rPr lang="ru-RU" sz="2400" b="1" dirty="0" smtClean="0">
                <a:latin typeface="Source Sans Pro"/>
              </a:rPr>
              <a:t> </a:t>
            </a:r>
            <a:r>
              <a:rPr lang="en-US" sz="2400" b="1" dirty="0" smtClean="0">
                <a:latin typeface="Source Sans Pro"/>
              </a:rPr>
              <a:t>ARCHITECTURE: TABLE 1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graphicFrame>
        <p:nvGraphicFramePr>
          <p:cNvPr id="7" name="Таблица 6"/>
          <p:cNvGraphicFramePr>
            <a:graphicFrameLocks noGrp="1"/>
          </p:cNvGraphicFramePr>
          <p:nvPr/>
        </p:nvGraphicFramePr>
        <p:xfrm>
          <a:off x="1343473" y="1268760"/>
          <a:ext cx="9505056" cy="496855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168352"/>
                <a:gridCol w="3168352"/>
                <a:gridCol w="3168352"/>
              </a:tblGrid>
              <a:tr h="46199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Aspect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>
                    <a:solidFill>
                      <a:schemeClr val="tx1">
                        <a:alpha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Traditional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>
                    <a:solidFill>
                      <a:schemeClr val="tx1">
                        <a:alpha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Proposed 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>
                    <a:solidFill>
                      <a:schemeClr val="tx1">
                        <a:alpha val="10000"/>
                      </a:schemeClr>
                    </a:solidFill>
                  </a:tcPr>
                </a:tc>
              </a:tr>
              <a:tr h="780140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Data Integration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>
                    <a:solidFill>
                      <a:schemeClr val="tx1">
                        <a:alpha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Manual, error-prone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Automated, ontology-driven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</a:tr>
              <a:tr h="780140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Interoperability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>
                    <a:solidFill>
                      <a:schemeClr val="tx1">
                        <a:alpha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Limited, </a:t>
                      </a:r>
                      <a:r>
                        <a:rPr lang="en-US" sz="2200" dirty="0" err="1" smtClean="0">
                          <a:latin typeface="Source Sans Pro"/>
                        </a:rPr>
                        <a:t>siloed</a:t>
                      </a:r>
                      <a:r>
                        <a:rPr lang="en-US" sz="2200" dirty="0" smtClean="0">
                          <a:latin typeface="Source Sans Pro"/>
                        </a:rPr>
                        <a:t> systems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Full semantic interoperability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</a:tr>
              <a:tr h="46199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Real-time Access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>
                    <a:solidFill>
                      <a:schemeClr val="tx1">
                        <a:alpha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Delayed reports (batch)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Real-time visibility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</a:tr>
              <a:tr h="46199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Quality Assurance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>
                    <a:solidFill>
                      <a:schemeClr val="tx1">
                        <a:alpha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Batch processing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Continuous monitoring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</a:tr>
              <a:tr h="780140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Compliance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>
                    <a:solidFill>
                      <a:schemeClr val="tx1">
                        <a:alpha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Document-based tracking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Automated tracking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</a:tr>
              <a:tr h="780140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Scalability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>
                    <a:solidFill>
                      <a:schemeClr val="tx1">
                        <a:alpha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Fixed capacity infrastructure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Cloud elastic scaling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</a:tr>
              <a:tr h="46199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Error Detection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>
                    <a:solidFill>
                      <a:schemeClr val="tx1">
                        <a:alpha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Post-incident (reactive)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Real-time (proactive)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="http://schemas.microsoft.com/office/powerpoint/2012/main" xmlns:p14="http://schemas.microsoft.com/office/powerpoint/2010/main" xmlns="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11109960" y="6324480"/>
            <a:ext cx="1082040" cy="36207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9A0DAD1D-931E-47E3-8A32-99B5CC61471B}" type="slidenum">
              <a:rPr lang="ru-RU" sz="1800" b="0" u="none" strike="noStrike" smtClean="0">
                <a:effectLst/>
                <a:uFillTx/>
                <a:latin typeface="Source Sans Pro"/>
              </a:rPr>
              <a:pPr defTabSz="914400">
                <a:lnSpc>
                  <a:spcPct val="100000"/>
                </a:lnSpc>
              </a:pPr>
              <a:t>7</a:t>
            </a:fld>
            <a:r>
              <a:rPr lang="en-US" dirty="0" smtClean="0">
                <a:latin typeface="Source Sans Pro"/>
              </a:rPr>
              <a:t>/12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5" name="Текстовое поле 6"/>
          <p:cNvSpPr/>
          <p:nvPr/>
        </p:nvSpPr>
        <p:spPr>
          <a:xfrm>
            <a:off x="120" y="321064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>
              <a:spcBef>
                <a:spcPts val="1191"/>
              </a:spcBef>
              <a:spcAft>
                <a:spcPts val="992"/>
              </a:spcAft>
            </a:pPr>
            <a:r>
              <a:rPr lang="en-US" sz="2400" b="1" u="none" strike="noStrike" dirty="0" smtClean="0">
                <a:effectLst/>
                <a:uFillTx/>
                <a:latin typeface="Source Sans Pro"/>
              </a:rPr>
              <a:t>SYSTEM </a:t>
            </a:r>
            <a:r>
              <a:rPr lang="ru-RU" sz="2400" b="1" u="none" strike="noStrike" dirty="0" smtClean="0">
                <a:effectLst/>
                <a:uFillTx/>
                <a:latin typeface="Source Sans Pro"/>
              </a:rPr>
              <a:t> </a:t>
            </a:r>
            <a:r>
              <a:rPr lang="en-US" sz="2400" b="1" u="none" strike="noStrike" dirty="0" smtClean="0">
                <a:effectLst/>
                <a:uFillTx/>
                <a:latin typeface="Source Sans Pro"/>
              </a:rPr>
              <a:t>ARCHITECTURE: </a:t>
            </a:r>
            <a:r>
              <a:rPr lang="en-US" sz="2400" b="1" dirty="0" smtClean="0">
                <a:latin typeface="Source Sans Pro"/>
              </a:rPr>
              <a:t>IMAGE 1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pic>
        <p:nvPicPr>
          <p:cNvPr id="2050" name="Picture 2" descr="C:\Users\student\Music\FSR\graphiс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3856" y="1152128"/>
            <a:ext cx="7164289" cy="5373216"/>
          </a:xfrm>
          <a:prstGeom prst="rect">
            <a:avLst/>
          </a:prstGeom>
          <a:noFill/>
        </p:spPr>
      </p:pic>
    </p:spTree>
  </p:cSld>
  <p:clrMapOvr>
    <a:masterClrMapping/>
  </p:clrMapOvr>
  <mc:AlternateContent xmlns:mc="http://schemas.openxmlformats.org/markup-compatibility/2006">
    <mc:Choice xmlns:p15="http://schemas.microsoft.com/office/powerpoint/2012/main" xmlns:p14="http://schemas.microsoft.com/office/powerpoint/2010/main" xmlns="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11109960" y="6324480"/>
            <a:ext cx="1062990" cy="38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9A0DAD1D-931E-47E3-8A32-99B5CC61471B}" type="slidenum">
              <a:rPr lang="ru-RU" sz="1800" b="0" u="none" strike="noStrike" smtClean="0">
                <a:effectLst/>
                <a:uFillTx/>
                <a:latin typeface="Source Sans Pro"/>
              </a:rPr>
              <a:pPr defTabSz="914400">
                <a:lnSpc>
                  <a:spcPct val="100000"/>
                </a:lnSpc>
              </a:pPr>
              <a:t>8</a:t>
            </a:fld>
            <a:r>
              <a:rPr lang="en-US" sz="1800" b="0" u="none" strike="noStrike" dirty="0" smtClean="0">
                <a:effectLst/>
                <a:uFillTx/>
                <a:latin typeface="Source Sans Pro"/>
              </a:rPr>
              <a:t>/12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5" name="Текстовое поле 6"/>
          <p:cNvSpPr/>
          <p:nvPr/>
        </p:nvSpPr>
        <p:spPr>
          <a:xfrm>
            <a:off x="120" y="309240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it-IT" sz="2400" b="1" u="none" strike="noStrike" dirty="0" smtClean="0">
                <a:effectLst/>
                <a:uFillTx/>
                <a:latin typeface="Source Sans Pro"/>
              </a:rPr>
              <a:t>DATA INTEGRATION: IOT DATA PROCESSING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sp>
        <p:nvSpPr>
          <p:cNvPr id="66" name="Текстовое поле 10"/>
          <p:cNvSpPr/>
          <p:nvPr/>
        </p:nvSpPr>
        <p:spPr>
          <a:xfrm>
            <a:off x="1571760" y="1725120"/>
            <a:ext cx="9048960" cy="513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spcBef>
                <a:spcPts val="1191"/>
              </a:spcBef>
              <a:spcAft>
                <a:spcPts val="992"/>
              </a:spcAft>
            </a:pPr>
            <a:r>
              <a:rPr lang="en-US" sz="2200" b="1" dirty="0" smtClean="0">
                <a:solidFill>
                  <a:schemeClr val="dk1"/>
                </a:solidFill>
                <a:latin typeface="Source Sans Pro"/>
              </a:rPr>
              <a:t>Processing Pipeline</a:t>
            </a:r>
            <a:endParaRPr lang="en-US" sz="2200" b="0" u="none" strike="noStrike" dirty="0" smtClean="0">
              <a:solidFill>
                <a:schemeClr val="dk1"/>
              </a:solidFill>
              <a:effectLst/>
              <a:uFillTx/>
              <a:latin typeface="Source Sans Pro"/>
            </a:endParaRP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b="1" dirty="0">
                <a:solidFill>
                  <a:srgbClr val="000000"/>
                </a:solidFill>
                <a:latin typeface="Source Sans Pro"/>
              </a:rPr>
              <a:t>Collection</a:t>
            </a:r>
            <a:r>
              <a:rPr lang="en-US" sz="2200" dirty="0">
                <a:solidFill>
                  <a:srgbClr val="000000"/>
                </a:solidFill>
                <a:latin typeface="Source Sans Pro"/>
              </a:rPr>
              <a:t>: Real-time data from sensors, smart </a:t>
            </a:r>
            <a:r>
              <a:rPr lang="en-US" sz="2200" dirty="0" smtClean="0">
                <a:solidFill>
                  <a:srgbClr val="000000"/>
                </a:solidFill>
                <a:latin typeface="Source Sans Pro"/>
              </a:rPr>
              <a:t>devices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b="1" dirty="0">
                <a:solidFill>
                  <a:srgbClr val="000000"/>
                </a:solidFill>
                <a:latin typeface="Source Sans Pro"/>
              </a:rPr>
              <a:t>Normalization</a:t>
            </a:r>
            <a:r>
              <a:rPr lang="en-US" sz="2200" dirty="0">
                <a:solidFill>
                  <a:srgbClr val="000000"/>
                </a:solidFill>
                <a:latin typeface="Source Sans Pro"/>
              </a:rPr>
              <a:t>: Map heterogeneous formats to </a:t>
            </a:r>
            <a:r>
              <a:rPr lang="en-US" sz="2200" dirty="0" smtClean="0">
                <a:solidFill>
                  <a:srgbClr val="000000"/>
                </a:solidFill>
                <a:latin typeface="Source Sans Pro"/>
              </a:rPr>
              <a:t>ontology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b="1" dirty="0" smtClean="0">
                <a:latin typeface="Source Sans Pro"/>
              </a:rPr>
              <a:t>Aggregation</a:t>
            </a:r>
            <a:r>
              <a:rPr lang="en-US" sz="2200" dirty="0" smtClean="0">
                <a:latin typeface="Source Sans Pro"/>
              </a:rPr>
              <a:t>: Merge data into unified knowledge base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r>
              <a:rPr lang="en-US" sz="2200" b="1" dirty="0" smtClean="0">
                <a:latin typeface="Source Sans Pro"/>
              </a:rPr>
              <a:t>Data transformation formula (Formula 1)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r>
              <a:rPr lang="pt-BR" sz="2200" dirty="0" smtClean="0">
                <a:latin typeface="Source Sans Pro"/>
              </a:rPr>
              <a:t>D_transformed = f(D_raw, O) = Map(D_raw) → O_concepts</a:t>
            </a:r>
            <a:endParaRPr lang="en-US" sz="2200" b="1" dirty="0" smtClean="0">
              <a:latin typeface="Source Sans Pro"/>
            </a:endParaRP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endParaRPr lang="en-US" sz="2200" b="1" dirty="0" smtClean="0">
              <a:latin typeface="Source Sans Pr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xmlns:p14="http://schemas.microsoft.com/office/powerpoint/2010/main" xmlns="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11109960" y="6324480"/>
            <a:ext cx="1062990" cy="38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9A0DAD1D-931E-47E3-8A32-99B5CC61471B}" type="slidenum">
              <a:rPr lang="ru-RU" sz="1800" b="0" u="none" strike="noStrike" smtClean="0">
                <a:effectLst/>
                <a:uFillTx/>
                <a:latin typeface="Source Sans Pro"/>
              </a:rPr>
              <a:pPr defTabSz="914400">
                <a:lnSpc>
                  <a:spcPct val="100000"/>
                </a:lnSpc>
              </a:pPr>
              <a:t>9</a:t>
            </a:fld>
            <a:r>
              <a:rPr lang="en-US" sz="1800" b="0" u="none" strike="noStrike" dirty="0" smtClean="0">
                <a:effectLst/>
                <a:uFillTx/>
                <a:latin typeface="Source Sans Pro"/>
              </a:rPr>
              <a:t>/12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5" name="Текстовое поле 6"/>
          <p:cNvSpPr/>
          <p:nvPr/>
        </p:nvSpPr>
        <p:spPr>
          <a:xfrm>
            <a:off x="120" y="309240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it-IT" sz="2400" b="1" dirty="0" smtClean="0">
                <a:latin typeface="Source Sans Pro"/>
              </a:rPr>
              <a:t>IMPLEMENTATION: CLOUD-BASED PLATFORM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sp>
        <p:nvSpPr>
          <p:cNvPr id="66" name="Текстовое поле 10"/>
          <p:cNvSpPr/>
          <p:nvPr/>
        </p:nvSpPr>
        <p:spPr>
          <a:xfrm>
            <a:off x="1571760" y="1725120"/>
            <a:ext cx="9048960" cy="513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Common knowledge base accessible to all stakeholders</a:t>
            </a:r>
            <a:endParaRPr lang="en-US" sz="2200" dirty="0" smtClean="0">
              <a:solidFill>
                <a:srgbClr val="000000"/>
              </a:solidFill>
              <a:latin typeface="Source Sans Pro"/>
            </a:endParaRP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Query interface for trace retrieval and tracking</a:t>
            </a:r>
            <a:endParaRPr lang="en-US" sz="2200" dirty="0" smtClean="0">
              <a:solidFill>
                <a:srgbClr val="000000"/>
              </a:solidFill>
              <a:latin typeface="Source Sans Pro"/>
            </a:endParaRP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Real-time synchronization across supply chain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Access control and data privacy mechanisms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r>
              <a:rPr lang="en-US" sz="2200" b="1" dirty="0" smtClean="0">
                <a:latin typeface="Source Sans Pro"/>
              </a:rPr>
              <a:t>Interoperability function (Formula 2)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r>
              <a:rPr lang="en-US" sz="2200" dirty="0" smtClean="0">
                <a:latin typeface="Source Sans Pro"/>
              </a:rPr>
              <a:t>I(S₁, S₂) = similarity(schema₁, schema₂, </a:t>
            </a:r>
            <a:r>
              <a:rPr lang="en-US" sz="2200" dirty="0" err="1" smtClean="0">
                <a:latin typeface="Source Sans Pro"/>
              </a:rPr>
              <a:t>O_mapping</a:t>
            </a:r>
            <a:r>
              <a:rPr lang="en-US" sz="2200" dirty="0" smtClean="0">
                <a:latin typeface="Source Sans Pro"/>
              </a:rPr>
              <a:t>)</a:t>
            </a:r>
            <a:endParaRPr lang="en-US" sz="2200" b="1" dirty="0" smtClean="0">
              <a:latin typeface="Source Sans Pr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xmlns:p14="http://schemas.microsoft.com/office/powerpoint/2010/main" xmlns="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11109960" y="6324480"/>
            <a:ext cx="1062990" cy="38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9A0DAD1D-931E-47E3-8A32-99B5CC61471B}" type="slidenum">
              <a:rPr lang="ru-RU" sz="1800" b="0" u="none" strike="noStrike" smtClean="0">
                <a:effectLst/>
                <a:uFillTx/>
                <a:latin typeface="Source Sans Pro"/>
              </a:rPr>
              <a:pPr defTabSz="914400">
                <a:lnSpc>
                  <a:spcPct val="100000"/>
                </a:lnSpc>
              </a:pPr>
              <a:t>10</a:t>
            </a:fld>
            <a:r>
              <a:rPr lang="en-US" sz="1800" b="0" u="none" strike="noStrike" dirty="0" smtClean="0">
                <a:effectLst/>
                <a:uFillTx/>
                <a:latin typeface="Source Sans Pro"/>
              </a:rPr>
              <a:t>/12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5" name="Текстовое поле 6"/>
          <p:cNvSpPr/>
          <p:nvPr/>
        </p:nvSpPr>
        <p:spPr>
          <a:xfrm>
            <a:off x="120" y="309240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it-IT" sz="2400" b="1" dirty="0" smtClean="0">
                <a:latin typeface="Source Sans Pro"/>
              </a:rPr>
              <a:t>KEY RESULTS: SYSTEM CAPABILITIES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sp>
        <p:nvSpPr>
          <p:cNvPr id="66" name="Текстовое поле 10"/>
          <p:cNvSpPr/>
          <p:nvPr/>
        </p:nvSpPr>
        <p:spPr>
          <a:xfrm>
            <a:off x="1571760" y="1725120"/>
            <a:ext cx="9048960" cy="513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spcBef>
                <a:spcPts val="1191"/>
              </a:spcBef>
              <a:spcAft>
                <a:spcPts val="992"/>
              </a:spcAft>
            </a:pPr>
            <a:r>
              <a:rPr lang="en-US" sz="2200" b="1" dirty="0" smtClean="0">
                <a:latin typeface="Source Sans Pro"/>
              </a:rPr>
              <a:t>Achieved Outcomes</a:t>
            </a:r>
            <a:endParaRPr lang="en-US" sz="2200" b="0" u="none" strike="noStrike" dirty="0" smtClean="0">
              <a:effectLst/>
              <a:uFillTx/>
              <a:latin typeface="Source Sans Pro"/>
            </a:endParaRP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Solved interoperability challenges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Automated data integration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Enhanced transparency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r>
              <a:rPr lang="en-US" sz="2200" b="1" dirty="0" smtClean="0">
                <a:latin typeface="Source Sans Pro"/>
              </a:rPr>
              <a:t>Practical Benefits</a:t>
            </a:r>
            <a:endParaRPr lang="en-US" sz="2200" dirty="0" smtClean="0">
              <a:latin typeface="Source Sans Pro"/>
            </a:endParaRP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Real-time product tracking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Quality assurance automation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Compliance monitoring</a:t>
            </a:r>
          </a:p>
        </p:txBody>
      </p:sp>
      <p:sp>
        <p:nvSpPr>
          <p:cNvPr id="6146" name="Rectangle 2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xmlns:p14="http://schemas.microsoft.com/office/powerpoint/2010/main" xmlns="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11109960" y="6324480"/>
            <a:ext cx="1062990" cy="38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9A0DAD1D-931E-47E3-8A32-99B5CC61471B}" type="slidenum">
              <a:rPr lang="ru-RU" sz="1800" b="0" u="none" strike="noStrike" smtClean="0">
                <a:effectLst/>
                <a:uFillTx/>
                <a:latin typeface="Source Sans Pro"/>
              </a:rPr>
              <a:pPr defTabSz="914400">
                <a:lnSpc>
                  <a:spcPct val="100000"/>
                </a:lnSpc>
              </a:pPr>
              <a:t>11</a:t>
            </a:fld>
            <a:r>
              <a:rPr lang="en-US" sz="1800" b="0" u="none" strike="noStrike" dirty="0" smtClean="0">
                <a:effectLst/>
                <a:uFillTx/>
                <a:latin typeface="Source Sans Pro"/>
              </a:rPr>
              <a:t>/12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5" name="Текстовое поле 6"/>
          <p:cNvSpPr/>
          <p:nvPr/>
        </p:nvSpPr>
        <p:spPr>
          <a:xfrm>
            <a:off x="120" y="309240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it-IT" sz="2400" b="1" dirty="0" smtClean="0">
                <a:latin typeface="Source Sans Pro"/>
              </a:rPr>
              <a:t>KEY CHALLENGE &amp; SOLUTION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sp>
        <p:nvSpPr>
          <p:cNvPr id="66" name="Текстовое поле 10"/>
          <p:cNvSpPr/>
          <p:nvPr/>
        </p:nvSpPr>
        <p:spPr>
          <a:xfrm>
            <a:off x="1571760" y="1725120"/>
            <a:ext cx="9048960" cy="513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spcBef>
                <a:spcPts val="1191"/>
              </a:spcBef>
              <a:spcAft>
                <a:spcPts val="992"/>
              </a:spcAft>
            </a:pPr>
            <a:r>
              <a:rPr lang="en-US" sz="2200" b="1" dirty="0" smtClean="0">
                <a:solidFill>
                  <a:schemeClr val="dk1"/>
                </a:solidFill>
                <a:latin typeface="Source Sans Pro"/>
              </a:rPr>
              <a:t>Challenge: </a:t>
            </a:r>
            <a:r>
              <a:rPr lang="en-US" sz="2200" dirty="0" smtClean="0">
                <a:solidFill>
                  <a:schemeClr val="dk1"/>
                </a:solidFill>
                <a:latin typeface="Source Sans Pro"/>
              </a:rPr>
              <a:t>Data Heterogeneity</a:t>
            </a:r>
          </a:p>
          <a:p>
            <a:pPr>
              <a:spcBef>
                <a:spcPts val="1191"/>
              </a:spcBef>
              <a:spcAft>
                <a:spcPts val="992"/>
              </a:spcAft>
            </a:pPr>
            <a:r>
              <a:rPr lang="en-US" sz="2200" dirty="0" smtClean="0">
                <a:latin typeface="Source Sans Pro"/>
              </a:rPr>
              <a:t>Multiple source formats (JSON, XML, sensor streams)</a:t>
            </a:r>
          </a:p>
          <a:p>
            <a:pPr>
              <a:spcBef>
                <a:spcPts val="1191"/>
              </a:spcBef>
              <a:spcAft>
                <a:spcPts val="992"/>
              </a:spcAft>
            </a:pPr>
            <a:r>
              <a:rPr lang="en-US" sz="2200" b="1" dirty="0" smtClean="0">
                <a:latin typeface="Source Sans Pro"/>
              </a:rPr>
              <a:t>Solution</a:t>
            </a:r>
            <a:r>
              <a:rPr lang="en-US" sz="2200" dirty="0" smtClean="0">
                <a:latin typeface="Source Sans Pro"/>
              </a:rPr>
              <a:t>: Semantic Mapping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Ontology defines unified semantic model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Transformation rules map source schemas to ontology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Enables interoperable data exchange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endParaRPr lang="en-US" sz="2200" dirty="0" smtClean="0">
              <a:latin typeface="Source Sans Pr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xmlns:p14="http://schemas.microsoft.com/office/powerpoint/2010/main" xmlns="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Рисунок 6"/>
          <p:cNvPicPr/>
          <p:nvPr/>
        </p:nvPicPr>
        <p:blipFill>
          <a:blip r:embed="rId2" cstate="print">
            <a:biLevel thresh="50000"/>
            <a:lum bright="13000"/>
          </a:blip>
          <a:stretch/>
        </p:blipFill>
        <p:spPr>
          <a:xfrm>
            <a:off x="0" y="1800"/>
            <a:ext cx="12192000" cy="6856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" name="TextBox 4"/>
          <p:cNvSpPr/>
          <p:nvPr/>
        </p:nvSpPr>
        <p:spPr>
          <a:xfrm>
            <a:off x="6310160" y="1916832"/>
            <a:ext cx="4466360" cy="156820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ctr" anchorCtr="1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1" dirty="0" smtClean="0">
                <a:solidFill>
                  <a:schemeClr val="lt1"/>
                </a:solidFill>
                <a:latin typeface="Source Sans Pro"/>
              </a:rPr>
              <a:t>MY EMAIL: bicmetovdaniel@gmail.com</a:t>
            </a:r>
          </a:p>
          <a:p>
            <a:pPr algn="ctr" defTabSz="914400">
              <a:lnSpc>
                <a:spcPct val="100000"/>
              </a:lnSpc>
            </a:pPr>
            <a:r>
              <a:rPr lang="ru-RU" sz="2400" b="1" u="none" strike="noStrike" dirty="0" smtClean="0">
                <a:solidFill>
                  <a:schemeClr val="lt1"/>
                </a:solidFill>
                <a:effectLst/>
                <a:uFillTx/>
                <a:latin typeface="Source Sans Pro"/>
              </a:rPr>
              <a:t/>
            </a:r>
            <a:br>
              <a:rPr lang="ru-RU" sz="2400" b="1" u="none" strike="noStrike" dirty="0" smtClean="0">
                <a:solidFill>
                  <a:schemeClr val="lt1"/>
                </a:solidFill>
                <a:effectLst/>
                <a:uFillTx/>
                <a:latin typeface="Source Sans Pro"/>
              </a:rPr>
            </a:br>
            <a:r>
              <a:rPr lang="en-US" sz="2400" b="1" u="none" strike="noStrike" dirty="0" smtClean="0">
                <a:solidFill>
                  <a:schemeClr val="lt1"/>
                </a:solidFill>
                <a:effectLst/>
                <a:uFillTx/>
                <a:latin typeface="Source Sans Pro"/>
              </a:rPr>
              <a:t>THANK </a:t>
            </a:r>
            <a:r>
              <a:rPr lang="en-US" sz="2400" b="1" u="none" strike="noStrike" dirty="0">
                <a:solidFill>
                  <a:schemeClr val="lt1"/>
                </a:solidFill>
                <a:effectLst/>
                <a:uFillTx/>
                <a:latin typeface="Source Sans Pro"/>
              </a:rPr>
              <a:t>YOU!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</p:txBody>
      </p:sp>
      <p:sp>
        <p:nvSpPr>
          <p:cNvPr id="102" name="TextBox 1"/>
          <p:cNvSpPr/>
          <p:nvPr/>
        </p:nvSpPr>
        <p:spPr>
          <a:xfrm rot="30600">
            <a:off x="7377805" y="3440583"/>
            <a:ext cx="2604630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2400" b="1" u="none" strike="noStrike" dirty="0">
                <a:solidFill>
                  <a:schemeClr val="lt1"/>
                </a:solidFill>
                <a:effectLst/>
                <a:uFillTx/>
                <a:latin typeface="Source Sans Pro"/>
              </a:rPr>
              <a:t>Any questions?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xmlns:p14="http://schemas.microsoft.com/office/powerpoint/2010/main" xmlns="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7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8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229</TotalTime>
  <Words>460</Words>
  <Application>Microsoft Office PowerPoint</Application>
  <PresentationFormat>Произвольный</PresentationFormat>
  <Paragraphs>112</Paragraphs>
  <Slides>12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3" baseType="lpstr">
      <vt:lpstr>Office Theme</vt:lpstr>
      <vt:lpstr>Слайд 1</vt:lpstr>
      <vt:lpstr>Слайд 2</vt:lpstr>
      <vt:lpstr>Слайд 3</vt:lpstr>
      <vt:lpstr>Слайд 4</vt:lpstr>
      <vt:lpstr>Слайд 5</vt:lpstr>
      <vt:lpstr>Слайд 6</vt:lpstr>
      <vt:lpstr>Слайд 7</vt:lpstr>
      <vt:lpstr>Слайд 8</vt:lpstr>
      <vt:lpstr>Слайд 9</vt:lpstr>
      <vt:lpstr>Слайд 10</vt:lpstr>
      <vt:lpstr>Слайд 11</vt:lpstr>
      <vt:lpstr>Слайд 12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dc:description/>
  <cp:lastModifiedBy>student</cp:lastModifiedBy>
  <cp:revision>40</cp:revision>
  <dcterms:created xsi:type="dcterms:W3CDTF">2025-07-23T00:59:00Z</dcterms:created>
  <dcterms:modified xsi:type="dcterms:W3CDTF">2025-12-18T15:58:12Z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73180790FA874D1FBED7C9E9023E4C13_11</vt:lpwstr>
  </property>
  <property fmtid="{D5CDD505-2E9C-101B-9397-08002B2CF9AE}" pid="3" name="KSOProductBuildVer">
    <vt:lpwstr>1049-12.2.0.23155</vt:lpwstr>
  </property>
  <property fmtid="{D5CDD505-2E9C-101B-9397-08002B2CF9AE}" pid="4" name="PresentationFormat">
    <vt:lpwstr>宽屏</vt:lpwstr>
  </property>
  <property fmtid="{D5CDD505-2E9C-101B-9397-08002B2CF9AE}" pid="5" name="Slides">
    <vt:i4>12</vt:i4>
  </property>
</Properties>
</file>