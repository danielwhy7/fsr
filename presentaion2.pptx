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8" r:id="rId6"/>
    <p:sldId id="275" r:id="rId7"/>
    <p:sldId id="274" r:id="rId8"/>
    <p:sldId id="269" r:id="rId9"/>
    <p:sldId id="270" r:id="rId10"/>
    <p:sldId id="271" r:id="rId11"/>
    <p:sldId id="272" r:id="rId12"/>
    <p:sldId id="267" r:id="rId13"/>
  </p:sldIdLst>
  <p:sldSz cx="12192000" cy="6858000"/>
  <p:notesSz cx="7772400" cy="100584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-2790" y="-128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32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32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6950E7-A97B-474B-82D8-FAD481DD3A45}" type="datetimeFigureOut">
              <a:rPr lang="ru-RU" smtClean="0"/>
              <a:pPr/>
              <a:t>23.12.2025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77875" y="4778375"/>
            <a:ext cx="621665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32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32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935DCC-8B35-4346-BDC6-2012B1B27D73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523880" y="1323000"/>
            <a:ext cx="9143640" cy="218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/>
          <a:p>
            <a:pPr indent="0" algn="ctr" defTabSz="914400">
              <a:lnSpc>
                <a:spcPct val="13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838080" y="551520"/>
            <a:ext cx="10515240" cy="555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4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текста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Второй уровень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Третий уровень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Четвертый уровень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Пятый уровень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12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1960" y="3750840"/>
            <a:ext cx="9842760" cy="81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831960" y="4610160"/>
            <a:ext cx="73213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98176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28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9880" y="174492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839880" y="2615760"/>
            <a:ext cx="5157360" cy="357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172200" y="174492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172200" y="2615760"/>
            <a:ext cx="5182920" cy="357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35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36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8080" y="27662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39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4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46920" y="127080"/>
            <a:ext cx="416484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184000" y="766440"/>
            <a:ext cx="5816880" cy="509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Seventh Outline Level</a:t>
            </a: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51960" y="2057400"/>
            <a:ext cx="416484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</p:txBody>
      </p:sp>
      <p:sp>
        <p:nvSpPr>
          <p:cNvPr id="4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5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9824400" y="365040"/>
            <a:ext cx="15289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887976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5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1.xml"/><Relationship Id="rId3" Type="http://schemas.openxmlformats.org/officeDocument/2006/relationships/slide" Target="slide4.xml"/><Relationship Id="rId7" Type="http://schemas.openxmlformats.org/officeDocument/2006/relationships/slide" Target="slide1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9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slide" Target="slide5.xml"/><Relationship Id="rId9" Type="http://schemas.openxmlformats.org/officeDocument/2006/relationships/slide" Target="slide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Рисунок 8"/>
          <p:cNvPicPr/>
          <p:nvPr/>
        </p:nvPicPr>
        <p:blipFill>
          <a:blip r:embed="rId2" cstate="print">
            <a:biLevel thresh="50000"/>
            <a:lum bright="13000"/>
          </a:blip>
          <a:stretch/>
        </p:blipFill>
        <p:spPr>
          <a:xfrm>
            <a:off x="-24680" y="0"/>
            <a:ext cx="12385376" cy="688538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Текстовое поле 3"/>
          <p:cNvSpPr/>
          <p:nvPr/>
        </p:nvSpPr>
        <p:spPr>
          <a:xfrm>
            <a:off x="6196696" y="1977480"/>
            <a:ext cx="5155888" cy="104498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spcBef>
                <a:spcPts val="300"/>
              </a:spcBef>
              <a:spcAft>
                <a:spcPts val="300"/>
              </a:spcAft>
            </a:pPr>
            <a:r>
              <a:rPr lang="en-US" sz="19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Introduction to Traceability in Industry 4.0</a:t>
            </a:r>
            <a:endParaRPr lang="en-US" sz="1900" b="1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defTabSz="914400">
              <a:spcBef>
                <a:spcPts val="300"/>
              </a:spcBef>
              <a:spcAft>
                <a:spcPts val="300"/>
              </a:spcAft>
            </a:pPr>
            <a:r>
              <a:rPr lang="en-US" sz="1900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Intelligent Systems for Supply Chain Management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59" name="Текстовое поле 4"/>
          <p:cNvSpPr/>
          <p:nvPr/>
        </p:nvSpPr>
        <p:spPr>
          <a:xfrm>
            <a:off x="6412720" y="4503600"/>
            <a:ext cx="4723840" cy="9416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b="0" u="none" strike="noStrike" dirty="0" err="1">
                <a:solidFill>
                  <a:schemeClr val="lt1"/>
                </a:solidFill>
                <a:effectLst/>
                <a:uFillTx/>
                <a:latin typeface="Source Sans Pro"/>
              </a:rPr>
              <a:t>Bikmetov</a:t>
            </a:r>
            <a:r>
              <a:rPr lang="en-US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 </a:t>
            </a:r>
            <a:r>
              <a:rPr lang="en-US" b="0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Daniel</a:t>
            </a:r>
            <a:r>
              <a:rPr lang="ru-RU" dirty="0">
                <a:solidFill>
                  <a:srgbClr val="000000"/>
                </a:solidFill>
                <a:latin typeface="Source Sans Pro"/>
              </a:rPr>
              <a:t> </a:t>
            </a:r>
            <a:r>
              <a:rPr lang="en-US" b="0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6114-100503D</a:t>
            </a:r>
            <a:endParaRPr lang="ru-RU" b="0" u="none" strike="noStrike" dirty="0" smtClean="0">
              <a:solidFill>
                <a:schemeClr val="lt1"/>
              </a:solidFill>
              <a:effectLst/>
              <a:uFillTx/>
              <a:latin typeface="Source Sans Pro"/>
            </a:endParaRPr>
          </a:p>
          <a:p>
            <a:pPr algn="ctr" defTabSz="914400">
              <a:lnSpc>
                <a:spcPct val="100000"/>
              </a:lnSpc>
            </a:pPr>
            <a:r>
              <a:rPr lang="en-US" dirty="0" err="1" smtClean="0">
                <a:solidFill>
                  <a:schemeClr val="lt1"/>
                </a:solidFill>
                <a:latin typeface="Source Sans Pro"/>
              </a:rPr>
              <a:t>Krupenskiy</a:t>
            </a:r>
            <a:r>
              <a:rPr lang="en-US" dirty="0" smtClean="0">
                <a:solidFill>
                  <a:schemeClr val="lt1"/>
                </a:solidFill>
                <a:latin typeface="Source Sans Pro"/>
              </a:rPr>
              <a:t> Roman 6114-100503D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60" name="Текстовое поле 5"/>
          <p:cNvSpPr/>
          <p:nvPr/>
        </p:nvSpPr>
        <p:spPr>
          <a:xfrm>
            <a:off x="6743160" y="6068160"/>
            <a:ext cx="4063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b="0" u="none" strike="noStrike" dirty="0" err="1">
                <a:solidFill>
                  <a:schemeClr val="lt1"/>
                </a:solidFill>
                <a:effectLst/>
                <a:uFillTx/>
                <a:latin typeface="Source Sans Pro"/>
              </a:rPr>
              <a:t>Sumara</a:t>
            </a:r>
            <a:r>
              <a:rPr lang="en-US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, 2025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Текстовое поле 3"/>
          <p:cNvSpPr/>
          <p:nvPr/>
        </p:nvSpPr>
        <p:spPr>
          <a:xfrm>
            <a:off x="0" y="319320"/>
            <a:ext cx="1219200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2400" b="1" dirty="0" smtClean="0">
                <a:latin typeface="Source Sans Pro"/>
              </a:rPr>
              <a:t>PRESENTATION OUTLINE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11109960" y="6324480"/>
            <a:ext cx="104394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dirty="0" smtClean="0">
                <a:latin typeface="Source Sans Pro"/>
              </a:rPr>
              <a:t>2</a:t>
            </a:r>
            <a:r>
              <a:rPr lang="ru-RU" dirty="0" smtClean="0">
                <a:latin typeface="Source Sans Pro"/>
              </a:rPr>
              <a:t>/</a:t>
            </a:r>
            <a:r>
              <a:rPr lang="en-US" dirty="0" smtClean="0">
                <a:latin typeface="Source Sans Pro"/>
              </a:rPr>
              <a:t>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3" name="TextBox 4"/>
          <p:cNvSpPr/>
          <p:nvPr/>
        </p:nvSpPr>
        <p:spPr bwMode="gray">
          <a:xfrm>
            <a:off x="1907280" y="1514880"/>
            <a:ext cx="8411040" cy="41549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b="0" strike="noStrike" dirty="0">
                <a:effectLst/>
                <a:uFillTx/>
                <a:latin typeface="Source Sans Pro"/>
                <a:ea typeface="Calibri"/>
                <a:hlinkClick r:id="rId2" action="ppaction://hlinksldjump"/>
              </a:rPr>
              <a:t>Problem and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2" action="ppaction://hlinksldjump"/>
              </a:rPr>
              <a:t>Goal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3" action="ppaction://hlinksldjump"/>
              </a:rPr>
              <a:t>Core Idea: Three-Layer Architecture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4" action="ppaction://hlinksldjump"/>
              </a:rPr>
              <a:t>System architecture: Ontology-Based Modeling</a:t>
            </a:r>
            <a:endParaRPr lang="en-US" sz="2200" b="0" strike="noStrike" dirty="0" smtClean="0">
              <a:effectLst/>
              <a:uFillTx/>
              <a:latin typeface="Source Sans Pro"/>
              <a:ea typeface="Calibri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it-IT" sz="2200" dirty="0" smtClean="0">
                <a:latin typeface="Source Sans Pro"/>
                <a:ea typeface="Calibri"/>
                <a:hlinkClick r:id="rId5" action="ppaction://hlinksldjump"/>
              </a:rPr>
              <a:t>Data Integration: IoT Data Processing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6" action="ppaction://hlinksldjump"/>
              </a:rPr>
              <a:t>Implementation: Cloud-Based Platform 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7" action="ppaction://hlinksldjump"/>
              </a:rPr>
              <a:t>Key Results: System Capabilities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8" action="ppaction://hlinksldjump"/>
              </a:rPr>
              <a:t>Key Challenge &amp; Solution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7" action="ppaction://hlinksldjump"/>
              </a:rPr>
              <a:t>Conclusion</a:t>
            </a:r>
            <a:endParaRPr lang="en-US" sz="2200" dirty="0">
              <a:latin typeface="Source Sans Pro"/>
              <a:ea typeface="Calibri"/>
              <a:hlinkClick r:id="rId9" action="ppaction://hlinksldjump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3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 dirty="0">
                <a:effectLst/>
                <a:uFillTx/>
                <a:latin typeface="Source Sans Pro"/>
              </a:rPr>
              <a:t>PROBLEM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AND </a:t>
            </a:r>
            <a:r>
              <a:rPr lang="en-US" sz="2400" b="1" u="none" strike="noStrike" dirty="0">
                <a:effectLst/>
                <a:uFillTx/>
                <a:latin typeface="Source Sans Pro"/>
              </a:rPr>
              <a:t>GOAL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Why is intelligent traceability needed</a:t>
            </a:r>
            <a:r>
              <a:rPr lang="en-US" sz="2200" b="1" u="none" strike="noStrike" dirty="0" smtClean="0">
                <a:solidFill>
                  <a:schemeClr val="dk1"/>
                </a:solidFill>
                <a:effectLst/>
                <a:uFillTx/>
                <a:latin typeface="Source Sans Pro"/>
              </a:rPr>
              <a:t>?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Industry 4.0 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generates massive heterogeneous data (</a:t>
            </a:r>
            <a:r>
              <a:rPr lang="en-US" sz="2200" b="0" u="none" strike="noStrike" dirty="0" err="1">
                <a:solidFill>
                  <a:schemeClr val="dk1"/>
                </a:solidFill>
                <a:effectLst/>
                <a:uFillTx/>
                <a:latin typeface="Source Sans Pro"/>
              </a:rPr>
              <a:t>IoT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, sensors, CPS)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Supply chains 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lack real-time transparency and safety assurance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Current systems 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cannot integrate data from multiple sources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Goal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: Create unified, intelligent traceability for product safety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3"/>
          <p:cNvSpPr/>
          <p:nvPr/>
        </p:nvSpPr>
        <p:spPr>
          <a:xfrm>
            <a:off x="11109960" y="6324480"/>
            <a:ext cx="106299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BFA901F7-FE96-4101-A89D-662352C06BC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4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8" name="Текстовое поле 4"/>
          <p:cNvSpPr/>
          <p:nvPr/>
        </p:nvSpPr>
        <p:spPr>
          <a:xfrm>
            <a:off x="120" y="33012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>
                <a:effectLst/>
                <a:uFillTx/>
                <a:latin typeface="Source Sans Pro"/>
              </a:rPr>
              <a:t>CORE IDEA: THREE-LAYER ARCHITECTURE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32000" y="1268758"/>
          <a:ext cx="8096448" cy="460851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96448"/>
              </a:tblGrid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1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200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Semantic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Ontology-based knowledge representation</a:t>
                      </a:r>
                      <a:endParaRPr lang="ru-RU" sz="2200" b="0" dirty="0">
                        <a:solidFill>
                          <a:schemeClr val="tx1"/>
                        </a:solidFill>
                        <a:latin typeface="Source Sans Pro"/>
                      </a:endParaRPr>
                    </a:p>
                  </a:txBody>
                  <a:tcPr anchor="ctr"/>
                </a:tc>
              </a:tr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2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200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Integration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Unified data aggregation from heterogeneous sources</a:t>
                      </a:r>
                      <a:endParaRPr lang="ru-RU" sz="2200" dirty="0">
                        <a:solidFill>
                          <a:schemeClr val="tx1"/>
                        </a:solidFill>
                        <a:latin typeface="Source Sans Pro"/>
                      </a:endParaRPr>
                    </a:p>
                  </a:txBody>
                  <a:tcPr anchor="ctr"/>
                </a:tc>
              </a:tr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</a:t>
                      </a:r>
                      <a:r>
                        <a:rPr lang="ru-RU" sz="1800" b="1" dirty="0" smtClean="0">
                          <a:latin typeface="Source Sans Pro"/>
                        </a:rPr>
                        <a:t> 3</a:t>
                      </a: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2200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1" dirty="0" smtClean="0">
                          <a:latin typeface="Source Sans Pro"/>
                        </a:rPr>
                        <a:t>Cloud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>
                          <a:latin typeface="Source Sans Pro"/>
                        </a:rPr>
                        <a:t>Remote access and query capabilities</a:t>
                      </a:r>
                      <a:endParaRPr lang="en-US" sz="2200" b="1" dirty="0" smtClean="0">
                        <a:solidFill>
                          <a:schemeClr val="tx1"/>
                        </a:solidFill>
                        <a:latin typeface="Source Sans Pro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5</a:t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 smtClean="0">
                <a:effectLst/>
                <a:uFillTx/>
                <a:latin typeface="Source Sans Pro"/>
              </a:rPr>
              <a:t>SYSTEM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ARCHITECTURE: ONTOLOGY-BASED MODELING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15598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Semantic </a:t>
            </a:r>
            <a:r>
              <a:rPr lang="en-US" sz="2200" b="1" dirty="0" smtClean="0">
                <a:latin typeface="Source Sans Pro"/>
              </a:rPr>
              <a:t>representation</a:t>
            </a:r>
            <a:r>
              <a:rPr lang="en-US" sz="2200" dirty="0" smtClean="0">
                <a:latin typeface="Source Sans Pro"/>
              </a:rPr>
              <a:t> of traceability domain</a:t>
            </a:r>
            <a:endParaRPr lang="en-US" sz="2200" b="0" u="none" strike="noStrike" dirty="0" smtClean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 smtClean="0">
                <a:latin typeface="Source Sans Pro"/>
              </a:rPr>
              <a:t>Classes</a:t>
            </a:r>
            <a:r>
              <a:rPr lang="en-US" sz="2200" dirty="0" smtClean="0">
                <a:latin typeface="Source Sans Pro"/>
              </a:rPr>
              <a:t>: Product, Process, Location, Timestamp, Quality</a:t>
            </a:r>
            <a:endParaRPr lang="en-US" sz="2200" b="0" u="none" strike="noStrike" dirty="0" smtClean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 smtClean="0">
                <a:latin typeface="Source Sans Pro"/>
              </a:rPr>
              <a:t>Relations</a:t>
            </a:r>
            <a:r>
              <a:rPr lang="en-US" sz="2200" dirty="0" smtClean="0">
                <a:latin typeface="Source Sans Pro"/>
              </a:rPr>
              <a:t>: </a:t>
            </a:r>
            <a:r>
              <a:rPr lang="en-US" sz="2200" dirty="0" err="1" smtClean="0">
                <a:latin typeface="Source Sans Pro"/>
              </a:rPr>
              <a:t>hasStage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hasQuality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hasLocation</a:t>
            </a:r>
            <a:endParaRPr lang="en-US" sz="2200" dirty="0" smtClean="0">
              <a:latin typeface="Source Sans Pro"/>
            </a:endParaRPr>
          </a:p>
        </p:txBody>
      </p:sp>
      <p:sp>
        <p:nvSpPr>
          <p:cNvPr id="5" name="Текстовое поле 10"/>
          <p:cNvSpPr/>
          <p:nvPr/>
        </p:nvSpPr>
        <p:spPr>
          <a:xfrm>
            <a:off x="1724160" y="3573016"/>
            <a:ext cx="9844448" cy="23042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Let O = {C, R, I} where: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C = Concepts (Product, Process, Quality, Location, Agent)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R = Relations (</a:t>
            </a:r>
            <a:r>
              <a:rPr lang="en-US" sz="2200" dirty="0" err="1" smtClean="0">
                <a:latin typeface="Source Sans Pro"/>
              </a:rPr>
              <a:t>hasStage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hasQuality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hasTrace</a:t>
            </a:r>
            <a:r>
              <a:rPr lang="en-US" sz="2200" dirty="0" smtClean="0">
                <a:latin typeface="Source Sans Pro"/>
              </a:rPr>
              <a:t>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I = Instances (specific products, timestamps)</a:t>
            </a:r>
            <a:endParaRPr lang="en-US" sz="2200" b="1" dirty="0">
              <a:latin typeface="Source Sans Pro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703512" y="4077072"/>
            <a:ext cx="9865096" cy="1872208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">
                <a:schemeClr val="accent5">
                  <a:alpha val="10000"/>
                </a:schemeClr>
              </a:gs>
              <a:gs pos="3000">
                <a:schemeClr val="accent5">
                  <a:alpha val="10000"/>
                </a:schemeClr>
              </a:gs>
              <a:gs pos="2000">
                <a:schemeClr val="accent5">
                  <a:alpha val="1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6</a:t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en-US" sz="2400" b="1" dirty="0" smtClean="0">
                <a:latin typeface="Source Sans Pro"/>
              </a:rPr>
              <a:t>SYSTEM </a:t>
            </a:r>
            <a:r>
              <a:rPr lang="ru-RU" sz="2400" b="1" dirty="0" smtClean="0">
                <a:latin typeface="Source Sans Pro"/>
              </a:rPr>
              <a:t> </a:t>
            </a:r>
            <a:r>
              <a:rPr lang="en-US" sz="2400" b="1" dirty="0" smtClean="0">
                <a:latin typeface="Source Sans Pro"/>
              </a:rPr>
              <a:t>ARCHITECTURE: TABLE 1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1343473" y="1268760"/>
          <a:ext cx="9505056" cy="496855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68352"/>
                <a:gridCol w="3168352"/>
                <a:gridCol w="3168352"/>
              </a:tblGrid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Aspect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Traditional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Proposed 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Data Integration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Manual, error-prone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Automated, ontology-driven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Interoperability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Limited, </a:t>
                      </a:r>
                      <a:r>
                        <a:rPr lang="en-US" sz="2200" dirty="0" err="1" smtClean="0">
                          <a:latin typeface="Source Sans Pro"/>
                        </a:rPr>
                        <a:t>siloed</a:t>
                      </a:r>
                      <a:r>
                        <a:rPr lang="en-US" sz="2200" dirty="0" smtClean="0">
                          <a:latin typeface="Source Sans Pro"/>
                        </a:rPr>
                        <a:t> systems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Full semantic interoperability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Real-time Access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Delayed reports (batch)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Real-time visibility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Quality Assurance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Batch processing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Continuous monitoring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Compliance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Document-based tracking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Automated tracking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Scalability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Fixed capacity infrastructure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Cloud elastic scaling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Error Detection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Post-incident (reactive)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Real-time (proactive)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7</a:t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 smtClean="0">
                <a:effectLst/>
                <a:uFillTx/>
                <a:latin typeface="Source Sans Pro"/>
              </a:rPr>
              <a:t>SYSTEM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ARCHITECTURE: </a:t>
            </a:r>
            <a:r>
              <a:rPr lang="en-US" sz="2400" b="1" dirty="0" smtClean="0">
                <a:latin typeface="Source Sans Pro"/>
              </a:rPr>
              <a:t>IMAGE 1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pic>
        <p:nvPicPr>
          <p:cNvPr id="2050" name="Picture 2" descr="C:\Users\student\Music\FSR\graphiс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3856" y="1152128"/>
            <a:ext cx="7164289" cy="5373216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8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u="none" strike="noStrike" dirty="0" smtClean="0">
                <a:effectLst/>
                <a:uFillTx/>
                <a:latin typeface="Source Sans Pro"/>
              </a:rPr>
              <a:t>DATA INTEGRATION: IOT DATA PROCESSING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solidFill>
                  <a:schemeClr val="dk1"/>
                </a:solidFill>
                <a:latin typeface="Source Sans Pro"/>
              </a:rPr>
              <a:t>Processing Pipeline</a:t>
            </a:r>
            <a:endParaRPr lang="en-US" sz="2200" b="0" u="none" strike="noStrike" dirty="0" smtClean="0">
              <a:solidFill>
                <a:schemeClr val="dk1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Source Sans Pro"/>
              </a:rPr>
              <a:t>Collection</a:t>
            </a:r>
            <a:r>
              <a:rPr lang="en-US" sz="2200" dirty="0">
                <a:solidFill>
                  <a:srgbClr val="000000"/>
                </a:solidFill>
                <a:latin typeface="Source Sans Pro"/>
              </a:rPr>
              <a:t>: Real-time data from sensors, smart </a:t>
            </a:r>
            <a:r>
              <a:rPr lang="en-US" sz="2200" dirty="0" smtClean="0">
                <a:solidFill>
                  <a:srgbClr val="000000"/>
                </a:solidFill>
                <a:latin typeface="Source Sans Pro"/>
              </a:rPr>
              <a:t>devices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Source Sans Pro"/>
              </a:rPr>
              <a:t>Normalization</a:t>
            </a:r>
            <a:r>
              <a:rPr lang="en-US" sz="2200" dirty="0">
                <a:solidFill>
                  <a:srgbClr val="000000"/>
                </a:solidFill>
                <a:latin typeface="Source Sans Pro"/>
              </a:rPr>
              <a:t>: Map heterogeneous formats to </a:t>
            </a:r>
            <a:r>
              <a:rPr lang="en-US" sz="2200" dirty="0" smtClean="0">
                <a:solidFill>
                  <a:srgbClr val="000000"/>
                </a:solidFill>
                <a:latin typeface="Source Sans Pro"/>
              </a:rPr>
              <a:t>ontology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 smtClean="0">
                <a:latin typeface="Source Sans Pro"/>
              </a:rPr>
              <a:t>Aggregation</a:t>
            </a:r>
            <a:r>
              <a:rPr lang="en-US" sz="2200" dirty="0" smtClean="0">
                <a:latin typeface="Source Sans Pro"/>
              </a:rPr>
              <a:t>: Merge data into unified knowledge base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Data transformation </a:t>
            </a:r>
            <a:r>
              <a:rPr lang="en-US" sz="2200" b="1" dirty="0" smtClean="0">
                <a:latin typeface="Source Sans Pro"/>
              </a:rPr>
              <a:t>formula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pt-BR" sz="2200" dirty="0" smtClean="0">
                <a:latin typeface="Source Sans Pro"/>
              </a:rPr>
              <a:t>D</a:t>
            </a:r>
            <a:r>
              <a:rPr lang="pt-BR" dirty="0" smtClean="0">
                <a:latin typeface="Source Sans Pro"/>
              </a:rPr>
              <a:t>transformed</a:t>
            </a:r>
            <a:r>
              <a:rPr lang="pt-BR" sz="2200" dirty="0" smtClean="0">
                <a:latin typeface="Source Sans Pro"/>
              </a:rPr>
              <a:t> </a:t>
            </a:r>
            <a:r>
              <a:rPr lang="pt-BR" sz="2200" dirty="0" smtClean="0">
                <a:latin typeface="Source Sans Pro"/>
              </a:rPr>
              <a:t>= </a:t>
            </a:r>
            <a:r>
              <a:rPr lang="pt-BR" sz="2200" dirty="0" smtClean="0">
                <a:latin typeface="Source Sans Pro"/>
              </a:rPr>
              <a:t>f(D</a:t>
            </a:r>
            <a:r>
              <a:rPr lang="pt-BR" dirty="0" smtClean="0">
                <a:latin typeface="Source Sans Pro"/>
              </a:rPr>
              <a:t>raw</a:t>
            </a:r>
            <a:r>
              <a:rPr lang="pt-BR" sz="2200" dirty="0" smtClean="0">
                <a:latin typeface="Source Sans Pro"/>
              </a:rPr>
              <a:t>, O) = </a:t>
            </a:r>
            <a:r>
              <a:rPr lang="pt-BR" sz="2200" dirty="0" smtClean="0">
                <a:latin typeface="Source Sans Pro"/>
              </a:rPr>
              <a:t>Map(D</a:t>
            </a:r>
            <a:r>
              <a:rPr lang="pt-BR" dirty="0" smtClean="0">
                <a:latin typeface="Source Sans Pro"/>
              </a:rPr>
              <a:t>raw</a:t>
            </a:r>
            <a:r>
              <a:rPr lang="pt-BR" sz="2200" dirty="0" smtClean="0">
                <a:latin typeface="Source Sans Pro"/>
              </a:rPr>
              <a:t>) → </a:t>
            </a:r>
            <a:r>
              <a:rPr lang="pt-BR" sz="2200" dirty="0" smtClean="0">
                <a:latin typeface="Source Sans Pro"/>
              </a:rPr>
              <a:t>O</a:t>
            </a:r>
            <a:r>
              <a:rPr lang="pt-BR" dirty="0" smtClean="0">
                <a:latin typeface="Source Sans Pro"/>
              </a:rPr>
              <a:t>concepts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endParaRPr lang="en-US" sz="2200" b="1" dirty="0" smtClean="0"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endParaRPr lang="en-US" sz="2200" b="1" dirty="0" smtClean="0">
              <a:latin typeface="Source Sans Pro"/>
            </a:endParaRPr>
          </a:p>
        </p:txBody>
      </p:sp>
      <p:sp>
        <p:nvSpPr>
          <p:cNvPr id="5125" name="Rectangle 5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5126" name="Rectangle 6"/>
          <p:cNvSpPr>
            <a:spLocks noChangeArrowheads="1"/>
          </p:cNvSpPr>
          <p:nvPr/>
        </p:nvSpPr>
        <p:spPr bwMode="auto">
          <a:xfrm>
            <a:off x="0" y="942975"/>
            <a:ext cx="12192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5128" name="Rectangle 8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5129" name="Rectangle 9"/>
          <p:cNvSpPr>
            <a:spLocks noChangeArrowheads="1"/>
          </p:cNvSpPr>
          <p:nvPr/>
        </p:nvSpPr>
        <p:spPr bwMode="auto">
          <a:xfrm>
            <a:off x="0" y="1685925"/>
            <a:ext cx="12192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5131" name="Rectangle 11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5132" name="Rectangle 12"/>
          <p:cNvSpPr>
            <a:spLocks noChangeArrowheads="1"/>
          </p:cNvSpPr>
          <p:nvPr/>
        </p:nvSpPr>
        <p:spPr bwMode="auto">
          <a:xfrm>
            <a:off x="0" y="4848225"/>
            <a:ext cx="12192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5134" name="Rectangle 14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5135" name="Rectangle 15"/>
          <p:cNvSpPr>
            <a:spLocks noChangeArrowheads="1"/>
          </p:cNvSpPr>
          <p:nvPr/>
        </p:nvSpPr>
        <p:spPr bwMode="auto">
          <a:xfrm>
            <a:off x="0" y="2562225"/>
            <a:ext cx="12192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9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IMPLEMENTATION: CLOUD-BASED PLATFORM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Common knowledge base accessible to all stakeholders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Query interface for trace retrieval and tracking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Real-time synchronization across supply chain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Access control and data privacy mechanisms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Interoperability function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I(S₁, S₂) = similarity(schema₁, schema₂, </a:t>
            </a:r>
            <a:r>
              <a:rPr lang="en-US" sz="2200" dirty="0" err="1" smtClean="0">
                <a:latin typeface="Source Sans Pro"/>
              </a:rPr>
              <a:t>O_mapping</a:t>
            </a:r>
            <a:r>
              <a:rPr lang="en-US" sz="2200" dirty="0" smtClean="0">
                <a:latin typeface="Source Sans Pro"/>
              </a:rPr>
              <a:t>)</a:t>
            </a:r>
            <a:endParaRPr lang="en-US" sz="2200" b="1" dirty="0" smtClean="0"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10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KEY RESULTS: SYSTEM CAPABILITIES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latin typeface="Source Sans Pro"/>
              </a:rPr>
              <a:t>Achieved Outcomes</a:t>
            </a:r>
            <a:endParaRPr lang="en-US" sz="2200" b="0" u="none" strike="noStrike" dirty="0" smtClean="0"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Solved interoperability challenges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Automated data integration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Enhanced transparency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Practical Benefits</a:t>
            </a:r>
            <a:endParaRPr lang="en-US" sz="2200" dirty="0" smtClean="0"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Real-time product tracking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Quality assurance automation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Compliance monitoring</a:t>
            </a:r>
          </a:p>
        </p:txBody>
      </p:sp>
      <p:sp>
        <p:nvSpPr>
          <p:cNvPr id="6146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11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KEY CHALLENGE &amp; SOLUTION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solidFill>
                  <a:schemeClr val="dk1"/>
                </a:solidFill>
                <a:latin typeface="Source Sans Pro"/>
              </a:rPr>
              <a:t>Challenge: </a:t>
            </a:r>
            <a:r>
              <a:rPr lang="en-US" sz="2200" dirty="0" smtClean="0">
                <a:solidFill>
                  <a:schemeClr val="dk1"/>
                </a:solidFill>
                <a:latin typeface="Source Sans Pro"/>
              </a:rPr>
              <a:t>Data Heterogeneity</a:t>
            </a:r>
          </a:p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dirty="0" smtClean="0">
                <a:latin typeface="Source Sans Pro"/>
              </a:rPr>
              <a:t>Multiple source formats (JSON, XML, sensor streams)</a:t>
            </a:r>
          </a:p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latin typeface="Source Sans Pro"/>
              </a:rPr>
              <a:t>Solution</a:t>
            </a:r>
            <a:r>
              <a:rPr lang="en-US" sz="2200" dirty="0" smtClean="0">
                <a:latin typeface="Source Sans Pro"/>
              </a:rPr>
              <a:t>: Semantic Mapping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Ontology defines unified semantic model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Transformation rules map source schemas to ontology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Enables interoperable data exchange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endParaRPr lang="en-US" sz="2200" dirty="0" smtClean="0"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Рисунок 6"/>
          <p:cNvPicPr/>
          <p:nvPr/>
        </p:nvPicPr>
        <p:blipFill>
          <a:blip r:embed="rId2" cstate="print">
            <a:biLevel thresh="50000"/>
            <a:lum bright="13000"/>
          </a:blip>
          <a:stretch/>
        </p:blipFill>
        <p:spPr>
          <a:xfrm>
            <a:off x="0" y="1800"/>
            <a:ext cx="12192000" cy="685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Box 4"/>
          <p:cNvSpPr/>
          <p:nvPr/>
        </p:nvSpPr>
        <p:spPr>
          <a:xfrm>
            <a:off x="6310160" y="1916832"/>
            <a:ext cx="4466360" cy="156820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1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dirty="0" smtClean="0">
                <a:solidFill>
                  <a:schemeClr val="lt1"/>
                </a:solidFill>
                <a:latin typeface="Source Sans Pro"/>
              </a:rPr>
              <a:t>MY EMAIL: bicmetovdaniel@gmail.com</a:t>
            </a:r>
          </a:p>
          <a:p>
            <a:pPr algn="ctr" defTabSz="914400">
              <a:lnSpc>
                <a:spcPct val="100000"/>
              </a:lnSpc>
            </a:pPr>
            <a:r>
              <a:rPr lang="ru-RU" sz="2400" b="1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/>
            </a:r>
            <a:br>
              <a:rPr lang="ru-RU" sz="2400" b="1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</a:br>
            <a:r>
              <a:rPr lang="en-US" sz="2400" b="1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THANK </a:t>
            </a: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YOU!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102" name="TextBox 1"/>
          <p:cNvSpPr/>
          <p:nvPr/>
        </p:nvSpPr>
        <p:spPr>
          <a:xfrm rot="30600">
            <a:off x="7377805" y="3440583"/>
            <a:ext cx="260463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Any questions?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292</TotalTime>
  <Words>422</Words>
  <Application>Microsoft Office PowerPoint</Application>
  <PresentationFormat>Произвольный</PresentationFormat>
  <Paragraphs>110</Paragraphs>
  <Slides>12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3" baseType="lpstr">
      <vt:lpstr>Office Theme</vt:lpstr>
      <vt:lpstr>Слайд 1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student</cp:lastModifiedBy>
  <cp:revision>48</cp:revision>
  <dcterms:created xsi:type="dcterms:W3CDTF">2025-07-23T00:59:00Z</dcterms:created>
  <dcterms:modified xsi:type="dcterms:W3CDTF">2025-12-23T06:40:56Z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73180790FA874D1FBED7C9E9023E4C13_11</vt:lpwstr>
  </property>
  <property fmtid="{D5CDD505-2E9C-101B-9397-08002B2CF9AE}" pid="3" name="KSOProductBuildVer">
    <vt:lpwstr>1049-12.2.0.23155</vt:lpwstr>
  </property>
  <property fmtid="{D5CDD505-2E9C-101B-9397-08002B2CF9AE}" pid="4" name="PresentationFormat">
    <vt:lpwstr>宽屏</vt:lpwstr>
  </property>
  <property fmtid="{D5CDD505-2E9C-101B-9397-08002B2CF9AE}" pid="5" name="Slides">
    <vt:i4>12</vt:i4>
  </property>
</Properties>
</file>