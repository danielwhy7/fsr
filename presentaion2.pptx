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75" r:id="rId7"/>
    <p:sldId id="274" r:id="rId8"/>
    <p:sldId id="269" r:id="rId9"/>
    <p:sldId id="270" r:id="rId10"/>
    <p:sldId id="271" r:id="rId11"/>
    <p:sldId id="272" r:id="rId12"/>
    <p:sldId id="267" r:id="rId13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790" y="-12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</a:t>
            </a:r>
            <a:r>
              <a:rPr lang="en-US" dirty="0" smtClean="0">
                <a:latin typeface="Source Sans Pro"/>
              </a:rPr>
              <a:t>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512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Goal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3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3" action="ppaction://hlinksldjump"/>
              </a:rPr>
              <a:t>4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architecture: Ontology-Based Modeling </a:t>
            </a: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5</a:t>
            </a:r>
            <a:endParaRPr lang="en-US" sz="2200" b="0" strike="noStrike" dirty="0" smtClean="0">
              <a:effectLst/>
              <a:uFillTx/>
              <a:latin typeface="Source Sans Pro"/>
              <a:ea typeface="Calibri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System architecture: </a:t>
            </a:r>
            <a:r>
              <a:rPr lang="en-US" sz="2200" dirty="0" smtClean="0">
                <a:latin typeface="Source Sans Pro"/>
                <a:hlinkClick r:id="rId5" action="ppaction://hlinksldjump"/>
              </a:rPr>
              <a:t>Table 1 </a:t>
            </a: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– 6</a:t>
            </a:r>
            <a:endParaRPr lang="en-US" sz="2200" dirty="0" smtClean="0">
              <a:latin typeface="Source Sans Pro"/>
              <a:ea typeface="Calibri"/>
              <a:hlinkClick r:id="rId6" action="ppaction://hlinksldjump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System architecture: Image 1 –7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7" action="ppaction://hlinksldjump"/>
              </a:rPr>
              <a:t>Data Integration: IoT Data Processing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 – 8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Implementation: Cloud-Based Platform – 9 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Key Results: System Capabilities – 10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10" action="ppaction://hlinksldjump"/>
              </a:rPr>
              <a:t>Key Challenge &amp; Solution – 11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Conclusion </a:t>
            </a:r>
            <a:r>
              <a:rPr lang="en-US" sz="2200" dirty="0">
                <a:latin typeface="Source Sans Pro"/>
                <a:ea typeface="Calibri"/>
                <a:hlinkClick r:id="rId9" action="ppaction://hlinksldjump"/>
              </a:rPr>
              <a:t>– </a:t>
            </a: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12</a:t>
            </a:r>
            <a:endParaRPr lang="en-US" sz="2200" dirty="0">
              <a:latin typeface="Source Sans Pro"/>
              <a:ea typeface="Calibri"/>
              <a:hlinkClick r:id="rId11" action="ppaction://hlinksldjump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</a:t>
            </a:r>
            <a:r>
              <a:rPr lang="en-US" sz="2200" b="1" dirty="0" smtClean="0">
                <a:latin typeface="Source Sans Pro"/>
              </a:rPr>
              <a:t>representation</a:t>
            </a:r>
            <a:r>
              <a:rPr lang="en-US" sz="2200" dirty="0" smtClean="0">
                <a:latin typeface="Source Sans Pro"/>
              </a:rPr>
              <a:t>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Classes</a:t>
            </a:r>
            <a:r>
              <a:rPr lang="en-US" sz="2200" dirty="0" smtClean="0">
                <a:latin typeface="Source Sans Pro"/>
              </a:rPr>
              <a:t>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Relations</a:t>
            </a:r>
            <a:r>
              <a:rPr lang="en-US" sz="2200" dirty="0" smtClean="0">
                <a:latin typeface="Source Sans Pro"/>
              </a:rPr>
              <a:t>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dirty="0" smtClean="0">
                <a:latin typeface="Source Sans Pro"/>
              </a:rPr>
              <a:t>SYSTEM </a:t>
            </a:r>
            <a:r>
              <a:rPr lang="ru-RU" sz="2400" b="1" dirty="0" smtClean="0">
                <a:latin typeface="Source Sans Pro"/>
              </a:rPr>
              <a:t> </a:t>
            </a:r>
            <a:r>
              <a:rPr lang="en-US" sz="2400" b="1" dirty="0" smtClean="0">
                <a:latin typeface="Source Sans Pro"/>
              </a:rPr>
              <a:t>ARCHITECTURE: TABLE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343473" y="1268760"/>
          <a:ext cx="9505056" cy="49685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68352"/>
                <a:gridCol w="3168352"/>
                <a:gridCol w="3168352"/>
              </a:tblGrid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Aspect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Traditional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Proposed 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Data Integration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Manual, error-prone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Automated, ontology-driven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Limited, </a:t>
                      </a:r>
                      <a:r>
                        <a:rPr lang="en-US" sz="2200" dirty="0" err="1" smtClean="0">
                          <a:latin typeface="Source Sans Pro"/>
                        </a:rPr>
                        <a:t>siloed</a:t>
                      </a:r>
                      <a:r>
                        <a:rPr lang="en-US" sz="2200" dirty="0" smtClean="0">
                          <a:latin typeface="Source Sans Pro"/>
                        </a:rPr>
                        <a:t> systems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Full semantic 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Real-time Access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Delayed reports (batch)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visibility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Quality Assurance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Batch processing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Continuous monitoring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Compliance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Document-based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Scalability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Fixed capacity infrastructure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Cloud elastic scaling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Error Detection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Post-incident (reactive)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(proactive)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</a:t>
            </a:r>
            <a:r>
              <a:rPr lang="en-US" sz="2400" b="1" dirty="0" smtClean="0">
                <a:latin typeface="Source Sans Pro"/>
              </a:rPr>
              <a:t>IMAGE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pic>
        <p:nvPicPr>
          <p:cNvPr id="2050" name="Picture 2" descr="C:\Users\student\Music\FSR\graphiс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3856" y="1152128"/>
            <a:ext cx="7164289" cy="5373216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Data transformation formula (Formula 1)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pt-BR" sz="2200" dirty="0" smtClean="0">
                <a:latin typeface="Source Sans Pro"/>
              </a:rPr>
              <a:t>D_transformed = f(D_raw, O) = Map(D_raw) → O_concepts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Interoperability function (Formula 2)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I(S₁, S₂) = similarity(schema₁, schema₂, </a:t>
            </a:r>
            <a:r>
              <a:rPr lang="en-US" sz="2200" dirty="0" err="1" smtClean="0">
                <a:latin typeface="Source Sans Pro"/>
              </a:rPr>
              <a:t>O_mapping</a:t>
            </a:r>
            <a:r>
              <a:rPr lang="en-US" sz="2200" dirty="0" smtClean="0">
                <a:latin typeface="Source Sans Pro"/>
              </a:rPr>
              <a:t>)</a:t>
            </a: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10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  <p:sp>
        <p:nvSpPr>
          <p:cNvPr id="6146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11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310160" y="1916832"/>
            <a:ext cx="44663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dirty="0" smtClean="0">
                <a:solidFill>
                  <a:schemeClr val="lt1"/>
                </a:solidFill>
                <a:latin typeface="Source Sans Pro"/>
              </a:rPr>
              <a:t>MY EMAIL: bicmetovdaniel@gmail.com</a:t>
            </a:r>
          </a:p>
          <a:p>
            <a:pPr algn="ctr" defTabSz="914400">
              <a:lnSpc>
                <a:spcPct val="100000"/>
              </a:lnSpc>
            </a:pPr>
            <a: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/>
            </a:r>
            <a:b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</a:br>
            <a:r>
              <a:rPr lang="en-US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Words>460</Words>
  <Application>Microsoft Office PowerPoint</Application>
  <PresentationFormat>Произвольный</PresentationFormat>
  <Paragraphs>112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43</cp:revision>
  <dcterms:created xsi:type="dcterms:W3CDTF">2025-07-23T00:59:00Z</dcterms:created>
  <dcterms:modified xsi:type="dcterms:W3CDTF">2025-12-18T16:55:24Z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