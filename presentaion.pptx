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 defTabSz="914400">
              <a:lnSpc>
                <a:spcPct val="13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Заголовок и текс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текста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Второй уровень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Третий уровень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Четвертый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Пятый уровень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to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title </a:t>
            </a: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2760" cy="81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 to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ter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title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6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8" descr=""/>
          <p:cNvPicPr/>
          <p:nvPr/>
        </p:nvPicPr>
        <p:blipFill>
          <a:blip r:embed="rId1"/>
          <a:stretch/>
        </p:blipFill>
        <p:spPr>
          <a:xfrm>
            <a:off x="10080" y="1800"/>
            <a:ext cx="12191760" cy="685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Текстовое поле 3"/>
          <p:cNvSpPr/>
          <p:nvPr/>
        </p:nvSpPr>
        <p:spPr>
          <a:xfrm>
            <a:off x="7092360" y="2722320"/>
            <a:ext cx="3364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Introduction to Traceability in Industry 4.0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59" name="Текстовое поле 4"/>
          <p:cNvSpPr/>
          <p:nvPr/>
        </p:nvSpPr>
        <p:spPr>
          <a:xfrm>
            <a:off x="7092360" y="4503600"/>
            <a:ext cx="33645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Bikmetov Daniel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6114-100503D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0" name="Текстовое поле 5"/>
          <p:cNvSpPr/>
          <p:nvPr/>
        </p:nvSpPr>
        <p:spPr>
          <a:xfrm>
            <a:off x="6743160" y="6068160"/>
            <a:ext cx="4063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Sumara, 2025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овое поле 3"/>
          <p:cNvSpPr/>
          <p:nvPr/>
        </p:nvSpPr>
        <p:spPr>
          <a:xfrm>
            <a:off x="4128840" y="319320"/>
            <a:ext cx="39679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CONTENTS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EF3F373-C467-44ED-AF29-E8BA5498F370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1907280" y="1514880"/>
            <a:ext cx="841104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1" action="ppaction://hlinksldjump"/>
              </a:rPr>
              <a:t>Problem and Goal – 3;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2" action="ppaction://hlinksldjump"/>
              </a:rPr>
              <a:t>Core Idea: Probability on a Deadline– 4;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3" action="ppaction://hlinksldjump"/>
              </a:rPr>
              <a:t>Bayesian Inference in Real-Time – 5;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4" action="ppaction://hlinksldjump"/>
              </a:rPr>
              <a:t>RTPP System Architecture– 6;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5" action="ppaction://hlinksldjump"/>
              </a:rPr>
              <a:t>Algorithm Choice: Accuracy vs Speed–</a:t>
            </a: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6" action="ppaction://hlinksldjump"/>
              </a:rPr>
              <a:t>7;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7" action="ppaction://hlinksldjump"/>
              </a:rPr>
              <a:t>Hardware for Acceleration – 8;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8" action="ppaction://hlinksldjump"/>
              </a:rPr>
              <a:t>Use Case: Autonomous Vehicle– 9;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9" action="ppaction://hlinksldjump"/>
              </a:rPr>
              <a:t>Key Challenge &amp; Solution – 10;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i="1" lang="en-US" sz="1800" strike="noStrike" u="sng">
                <a:solidFill>
                  <a:schemeClr val="dk1"/>
                </a:solidFill>
                <a:effectLst/>
                <a:uFillTx/>
                <a:latin typeface="Source Sans Pro"/>
                <a:ea typeface="Calibri"/>
                <a:hlinkClick r:id="rId10" action="ppaction://hlinksldjump"/>
              </a:rPr>
              <a:t>Conclusion – 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46872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D1EDAAF-B343-4C6B-A179-BF2381A51C58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3009960" y="309240"/>
            <a:ext cx="617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PROBLEM AND GOAL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32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The Challenge: Determinism vs. Uncertainty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The Mismatch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Traditional Real-Time (RT) Systems: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Assumed to be deterministic;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Real-World Environment: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 Is uncertain (sensor noise, variable delays, unpredictable events);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Result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Hard timing guarantees (deadlines) conflict with the need to handle probabilities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Presentation Goal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Introduce Real-Time Probabilistic Programming (RTPP) – a framework that: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Explicitly models uncertainty using probability distributions;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Guarantees that all computations respect strict timing constraints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17CEB30-4F70-4E59-98FD-BF1DF4E52635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8" name="Текстовое поле 4"/>
          <p:cNvSpPr/>
          <p:nvPr/>
        </p:nvSpPr>
        <p:spPr>
          <a:xfrm>
            <a:off x="2536200" y="330120"/>
            <a:ext cx="7119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CORE IDEA: PROBALITY ON DEADLINE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69" name="Текстовое поле 5"/>
          <p:cNvSpPr/>
          <p:nvPr/>
        </p:nvSpPr>
        <p:spPr>
          <a:xfrm>
            <a:off x="1538640" y="1508040"/>
            <a:ext cx="9114480" cy="3953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96B55ED-1DED-4157-98BC-E965DD2ABE5E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1" name="Текстовое поле 8"/>
          <p:cNvSpPr/>
          <p:nvPr/>
        </p:nvSpPr>
        <p:spPr>
          <a:xfrm>
            <a:off x="1130400" y="308520"/>
            <a:ext cx="99309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BAYESIAN INFERENCE IN REAL-TIME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2" name="Текстовое поле 9"/>
          <p:cNvSpPr/>
          <p:nvPr/>
        </p:nvSpPr>
        <p:spPr>
          <a:xfrm>
            <a:off x="945000" y="988200"/>
            <a:ext cx="10483560" cy="5061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80C7F38-A6D0-463E-B51B-0952429F2040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2528720" y="9006480"/>
            <a:ext cx="5013720" cy="35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20000"/>
              </a:lnSpc>
            </a:pPr>
            <a:endParaRPr b="1" lang="ru-RU" sz="2050" strike="noStrike" u="none">
              <a:solidFill>
                <a:schemeClr val="dk1"/>
              </a:solidFill>
              <a:effectLst/>
              <a:uFillTx/>
              <a:latin typeface="Elektra Text Pro"/>
              <a:ea typeface="Calibri"/>
            </a:endParaRPr>
          </a:p>
        </p:txBody>
      </p:sp>
      <p:sp>
        <p:nvSpPr>
          <p:cNvPr id="75" name="Текстовое поле 13"/>
          <p:cNvSpPr/>
          <p:nvPr/>
        </p:nvSpPr>
        <p:spPr>
          <a:xfrm>
            <a:off x="710640" y="264240"/>
            <a:ext cx="10868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RTPP SYSTEM ARCHITECTURE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6" name="Текстовое поле 14"/>
          <p:cNvSpPr/>
          <p:nvPr/>
        </p:nvSpPr>
        <p:spPr>
          <a:xfrm>
            <a:off x="6096600" y="1463760"/>
            <a:ext cx="5669640" cy="35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Internal 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Key Components: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Probabilistic Model: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Specifies uncertainties and temporal constraints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Real-Time Scheduler: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Accounts for probabilistic task characteristics;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Probabilistic Inference Engine: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Performs computations with time guarantees;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Execution Platform (Hardware):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 CPU, GPU, or specialized FPGA/ASIC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pic>
        <p:nvPicPr>
          <p:cNvPr id="77" name="Изображение 15" descr="Рисунок1"/>
          <p:cNvPicPr/>
          <p:nvPr/>
        </p:nvPicPr>
        <p:blipFill>
          <a:blip r:embed="rId1"/>
          <a:stretch/>
        </p:blipFill>
        <p:spPr>
          <a:xfrm>
            <a:off x="513720" y="1563480"/>
            <a:ext cx="5582520" cy="277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Текстовое поле 16"/>
          <p:cNvSpPr/>
          <p:nvPr/>
        </p:nvSpPr>
        <p:spPr>
          <a:xfrm>
            <a:off x="768240" y="4458240"/>
            <a:ext cx="54428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Figure 1: High-level architecture of an RTPP 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3"/>
          <p:cNvSpPr/>
          <p:nvPr/>
        </p:nvSpPr>
        <p:spPr>
          <a:xfrm>
            <a:off x="11109960" y="6324480"/>
            <a:ext cx="46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6F8FF95-E94B-4A2F-AF04-28D88E2A0EDF}" type="slidenum">
              <a:rPr b="0" lang="ru-RU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0" name="Текстовое поле 1"/>
          <p:cNvSpPr/>
          <p:nvPr/>
        </p:nvSpPr>
        <p:spPr>
          <a:xfrm>
            <a:off x="1353240" y="319320"/>
            <a:ext cx="9687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ALGORITHM CHOICE: ACCURACY VS SPEED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1" name="Текстовое поле 2"/>
          <p:cNvSpPr/>
          <p:nvPr/>
        </p:nvSpPr>
        <p:spPr>
          <a:xfrm>
            <a:off x="975240" y="1094040"/>
            <a:ext cx="104619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Not All Inference Algorithms Are Fit for RTPP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Table 1: Comparison of inference algorithms for RTPP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graphicFrame>
        <p:nvGraphicFramePr>
          <p:cNvPr id="82" name="Таблица 4"/>
          <p:cNvGraphicFramePr/>
          <p:nvPr/>
        </p:nvGraphicFramePr>
        <p:xfrm>
          <a:off x="1353240" y="1999080"/>
          <a:ext cx="8530920" cy="3431160"/>
        </p:xfrm>
        <a:graphic>
          <a:graphicData uri="http://schemas.openxmlformats.org/drawingml/2006/table">
            <a:tbl>
              <a:tblPr/>
              <a:tblGrid>
                <a:gridCol w="1706040"/>
                <a:gridCol w="1706040"/>
                <a:gridCol w="1706040"/>
                <a:gridCol w="1706040"/>
                <a:gridCol w="1706040"/>
              </a:tblGrid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Algorithm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Avg. Accuracy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WCET Bound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Memory Use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RTPP Suitability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Markov Chain Monte Carlo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95%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Unbounded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 (unpredictable time)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Variational Inference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85%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15 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 (bounded WCET)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Sequential Monte Carlo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92%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22 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Approx. Bayesian Comp.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78%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8 ms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Very High (fast, less accurate)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3" name="Текстовое поле 12"/>
          <p:cNvSpPr/>
          <p:nvPr/>
        </p:nvSpPr>
        <p:spPr>
          <a:xfrm>
            <a:off x="975240" y="4925520"/>
            <a:ext cx="8445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Key Insight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In RTPP, we often trade peak accuracy for temporal predictability.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Текстовое поле 2"/>
          <p:cNvSpPr/>
          <p:nvPr/>
        </p:nvSpPr>
        <p:spPr>
          <a:xfrm>
            <a:off x="2370960" y="309240"/>
            <a:ext cx="74487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HARDWARE FOR ACCELERATION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5" name="Текстовое поле 3"/>
          <p:cNvSpPr/>
          <p:nvPr/>
        </p:nvSpPr>
        <p:spPr>
          <a:xfrm>
            <a:off x="858600" y="1009080"/>
            <a:ext cx="110034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Choosing the Right Hardware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Table 2: Hardware platforms for RTPP acceleration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graphicFrame>
        <p:nvGraphicFramePr>
          <p:cNvPr id="86" name="Таблица 5"/>
          <p:cNvGraphicFramePr/>
          <p:nvPr/>
        </p:nvGraphicFramePr>
        <p:xfrm>
          <a:off x="1001520" y="1787040"/>
          <a:ext cx="8530920" cy="3050280"/>
        </p:xfrm>
        <a:graphic>
          <a:graphicData uri="http://schemas.openxmlformats.org/drawingml/2006/table">
            <a:tbl>
              <a:tblPr/>
              <a:tblGrid>
                <a:gridCol w="1706040"/>
                <a:gridCol w="1706040"/>
                <a:gridCol w="1706040"/>
                <a:gridCol w="1706040"/>
                <a:gridCol w="1706040"/>
              </a:tblGrid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Platform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Probabilistic Ops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Determinism Level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Power Use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Flexibility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CPU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Software emulation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Medium-High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GPU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Parallel sampling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Low-Medium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FPGA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Custom inference engines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Medium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0880">
                <a:tc>
                  <a:txBody>
                    <a:bodyPr lIns="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ASIC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Dedicated probability units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Very High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12204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 marR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2040" rIns="0" tIns="76320" bIns="76320" anchor="ctr">
                      <a:noAutofit/>
                    </a:bodyPr>
                    <a:p>
                      <a:pPr algn="ctr" defTabSz="914400">
                        <a:lnSpc>
                          <a:spcPts val="1500"/>
                        </a:lnSpc>
                      </a:pPr>
                      <a:r>
                        <a:rPr b="0" lang="en-US" sz="1800" strike="noStrike" u="none">
                          <a:solidFill>
                            <a:srgbClr val="0f1115"/>
                          </a:solidFill>
                          <a:effectLst/>
                          <a:uFillTx/>
                          <a:latin typeface="Source Sans Pro"/>
                          <a:ea typeface="quote-cjk-patch"/>
                        </a:rPr>
                        <a:t>Low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Roboto"/>
                      </a:endParaRPr>
                    </a:p>
                  </a:txBody>
                  <a:tcPr anchor="ctr" marL="122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7" name="Текстовое поле 7"/>
          <p:cNvSpPr/>
          <p:nvPr/>
        </p:nvSpPr>
        <p:spPr>
          <a:xfrm>
            <a:off x="1028160" y="5062680"/>
            <a:ext cx="87537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Trend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Specialized FPGAs and ASICs are the future for embedded RTPP systems needing efficiency and predictability.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88" name="Текстовое поле 8"/>
          <p:cNvSpPr/>
          <p:nvPr/>
        </p:nvSpPr>
        <p:spPr>
          <a:xfrm>
            <a:off x="11225520" y="6325200"/>
            <a:ext cx="275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3"/>
          <p:cNvSpPr/>
          <p:nvPr/>
        </p:nvSpPr>
        <p:spPr>
          <a:xfrm>
            <a:off x="11109960" y="6324480"/>
            <a:ext cx="468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3007D09D-C2A5-45B7-8321-E9F4539E1789}" type="slidenum">
              <a:rPr b="0" lang="ru-RU" sz="1800" strike="noStrike" u="none">
                <a:solidFill>
                  <a:schemeClr val="lt1"/>
                </a:solidFill>
                <a:effectLst/>
                <a:uFillTx/>
                <a:latin typeface="Elektra Medium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0" name="Текстовое поле 1"/>
          <p:cNvSpPr/>
          <p:nvPr/>
        </p:nvSpPr>
        <p:spPr>
          <a:xfrm>
            <a:off x="1066680" y="330120"/>
            <a:ext cx="100587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USE CASE: AUTONOMOUS VEHICLE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1" name="Текстовое поле 2"/>
          <p:cNvSpPr/>
          <p:nvPr/>
        </p:nvSpPr>
        <p:spPr>
          <a:xfrm>
            <a:off x="6095520" y="1019880"/>
            <a:ext cx="5160960" cy="48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Application: Real-Time Pedestrian Trajectory Prediction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The RTPP Task: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Acquire data from camera/LiDAR (noisy, incomplete);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Update the probabilistic model of pedestrian trajectory (Bayesian inference);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Compute the optimal response (brake/steer);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Guarantee this entire pipeline meets the critical deadline (e.g., 100 ms)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Outcome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: A decision with a confidence estimate (e.g., "Maneuver A is safe with 99.7% probability"), made on time.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pic>
        <p:nvPicPr>
          <p:cNvPr id="92" name="Изображение 4" descr="Рисунок2"/>
          <p:cNvPicPr/>
          <p:nvPr/>
        </p:nvPicPr>
        <p:blipFill>
          <a:blip r:embed="rId1"/>
          <a:stretch/>
        </p:blipFill>
        <p:spPr>
          <a:xfrm>
            <a:off x="1198080" y="1228680"/>
            <a:ext cx="4956480" cy="307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Текстовое поле 5"/>
          <p:cNvSpPr/>
          <p:nvPr/>
        </p:nvSpPr>
        <p:spPr>
          <a:xfrm>
            <a:off x="1199520" y="4574520"/>
            <a:ext cx="49388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Figure 2: Timing diagram with probabilistic task execution times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3"/>
          <p:cNvSpPr/>
          <p:nvPr/>
        </p:nvSpPr>
        <p:spPr>
          <a:xfrm>
            <a:off x="11109960" y="6324480"/>
            <a:ext cx="468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6D91D4D-15B5-4635-A96E-0C302FDD0C5F}" type="slidenum">
              <a:rPr b="0" lang="ru-RU" sz="1800" strike="noStrike" u="none">
                <a:solidFill>
                  <a:schemeClr val="lt1"/>
                </a:solidFill>
                <a:effectLst/>
                <a:uFillTx/>
                <a:latin typeface="Elektra Medium Pro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5" name="Текстовое поле 1"/>
          <p:cNvSpPr/>
          <p:nvPr/>
        </p:nvSpPr>
        <p:spPr>
          <a:xfrm>
            <a:off x="1505520" y="276840"/>
            <a:ext cx="9146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KEY CHALLENGE &amp; SOLUTION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6" name="Текстовое поле 2"/>
          <p:cNvSpPr/>
          <p:nvPr/>
        </p:nvSpPr>
        <p:spPr>
          <a:xfrm>
            <a:off x="816120" y="966600"/>
            <a:ext cx="11013840" cy="3964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Текстовое поле 2"/>
          <p:cNvSpPr/>
          <p:nvPr/>
        </p:nvSpPr>
        <p:spPr>
          <a:xfrm>
            <a:off x="3139920" y="309240"/>
            <a:ext cx="60372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CONCLUSION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8" name="Текстовое поле 3"/>
          <p:cNvSpPr/>
          <p:nvPr/>
        </p:nvSpPr>
        <p:spPr>
          <a:xfrm>
            <a:off x="11087280" y="6356880"/>
            <a:ext cx="572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ln>
                  <a:solidFill>
                    <a:schemeClr val="lt1"/>
                  </a:solidFill>
                </a:ln>
                <a:solidFill>
                  <a:srgbClr val="ffffff"/>
                </a:solidFill>
                <a:effectLst/>
                <a:uFillTx/>
                <a:latin typeface="Source Sans Pro"/>
              </a:rPr>
              <a:t>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99" name="Текстовое поле 4"/>
          <p:cNvSpPr/>
          <p:nvPr/>
        </p:nvSpPr>
        <p:spPr>
          <a:xfrm>
            <a:off x="964440" y="1429920"/>
            <a:ext cx="10408680" cy="23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Key Takeaways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RTPP bridges the probabilistic world of uncertainty with the deterministic world of real-time guarantees;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Core Metric: Probability of meeting a deadline P(X≤D);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Involves Trade-offs: Inference accuracy ↔ Temporal predictability;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Spans All Levels: From mathematical models and algorithms to specialized hardware (FPGA/ASIC);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ource Sans Pro"/>
              </a:rPr>
              <a:t>Critical for autonomous systems, robotics, medical devices – where uncertainty exists, but delay is unacceptable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Рисунок 6" descr=""/>
          <p:cNvPicPr/>
          <p:nvPr/>
        </p:nvPicPr>
        <p:blipFill>
          <a:blip r:embed="rId1"/>
          <a:stretch/>
        </p:blipFill>
        <p:spPr>
          <a:xfrm>
            <a:off x="0" y="1800"/>
            <a:ext cx="12191760" cy="685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6627600" y="2798640"/>
            <a:ext cx="38314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THANK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Elektra Text Pro"/>
              </a:rPr>
              <a:t>YOU!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102" name="TextBox 1"/>
          <p:cNvSpPr/>
          <p:nvPr/>
        </p:nvSpPr>
        <p:spPr>
          <a:xfrm rot="30600">
            <a:off x="7451640" y="3750480"/>
            <a:ext cx="21754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Source Sans Pro"/>
              </a:rPr>
              <a:t>Any questions?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LibreOffice/25.2.4.3$Linux_X86_64 LibreOffice_project/520$Build-3</Application>
  <AppVersion>15.0000</AppVersion>
  <Words>4688</Words>
  <Paragraphs>246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/>
  <dc:description/>
  <dc:language>en-US</dc:language>
  <cp:lastModifiedBy/>
  <dcterms:modified xsi:type="dcterms:W3CDTF">2025-12-18T11:47:14Z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73180790FA874D1FBED7C9E9023E4C13_11</vt:lpwstr>
  </property>
  <property fmtid="{D5CDD505-2E9C-101B-9397-08002B2CF9AE}" pid="3" name="KSOProductBuildVer">
    <vt:lpwstr>1049-12.2.0.23155</vt:lpwstr>
  </property>
  <property fmtid="{D5CDD505-2E9C-101B-9397-08002B2CF9AE}" pid="4" name="PresentationFormat">
    <vt:lpwstr>宽屏</vt:lpwstr>
  </property>
  <property fmtid="{D5CDD505-2E9C-101B-9397-08002B2CF9AE}" pid="5" name="Slides">
    <vt:i4>12</vt:i4>
  </property>
</Properties>
</file>