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256" r:id="rId2"/>
    <p:sldId id="258" r:id="rId3"/>
    <p:sldId id="259" r:id="rId4"/>
    <p:sldId id="268" r:id="rId5"/>
    <p:sldId id="269" r:id="rId6"/>
    <p:sldId id="270" r:id="rId7"/>
    <p:sldId id="271" r:id="rId8"/>
    <p:sldId id="272" r:id="rId9"/>
    <p:sldId id="274" r:id="rId10"/>
    <p:sldId id="275" r:id="rId11"/>
    <p:sldId id="27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92C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540" autoAdjust="0"/>
    <p:restoredTop sz="87040" autoAdjust="0"/>
  </p:normalViewPr>
  <p:slideViewPr>
    <p:cSldViewPr snapToGrid="0">
      <p:cViewPr varScale="1">
        <p:scale>
          <a:sx n="87" d="100"/>
          <a:sy n="87" d="100"/>
        </p:scale>
        <p:origin x="-322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61A379-04ED-4315-B508-7C391B37CB40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909A777-89B0-4717-B94B-7004B242C45B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Агент интерфейса</a:t>
          </a:r>
          <a:endParaRPr lang="ru-RU" dirty="0"/>
        </a:p>
      </dgm:t>
    </dgm:pt>
    <dgm:pt modelId="{A606E474-2C43-451B-865A-7194AFA8365C}" type="parTrans" cxnId="{627A456C-020E-4C40-A033-B4ED8F1B7522}">
      <dgm:prSet/>
      <dgm:spPr/>
      <dgm:t>
        <a:bodyPr/>
        <a:lstStyle/>
        <a:p>
          <a:endParaRPr lang="ru-RU"/>
        </a:p>
      </dgm:t>
    </dgm:pt>
    <dgm:pt modelId="{5AD4C71C-92B7-44D6-ABCD-747BBEAB3307}" type="sibTrans" cxnId="{627A456C-020E-4C40-A033-B4ED8F1B7522}">
      <dgm:prSet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endParaRPr lang="ru-RU"/>
        </a:p>
      </dgm:t>
    </dgm:pt>
    <dgm:pt modelId="{B714EC00-221E-4228-87F3-EF990BF823FD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Мета-поисковый агент</a:t>
          </a:r>
          <a:endParaRPr lang="ru-RU" dirty="0"/>
        </a:p>
      </dgm:t>
    </dgm:pt>
    <dgm:pt modelId="{42F97102-BF43-4392-9217-A05E7E9BA1DE}" type="parTrans" cxnId="{A78B19B9-7662-44CC-B551-40A85AAF6FBA}">
      <dgm:prSet/>
      <dgm:spPr/>
      <dgm:t>
        <a:bodyPr/>
        <a:lstStyle/>
        <a:p>
          <a:endParaRPr lang="ru-RU"/>
        </a:p>
      </dgm:t>
    </dgm:pt>
    <dgm:pt modelId="{5F0896BD-60CE-4FC6-89EA-89FA158EDC27}" type="sibTrans" cxnId="{A78B19B9-7662-44CC-B551-40A85AAF6FBA}">
      <dgm:prSet/>
      <dgm:spPr>
        <a:ln>
          <a:solidFill>
            <a:schemeClr val="accent2"/>
          </a:solidFill>
        </a:ln>
      </dgm:spPr>
      <dgm:t>
        <a:bodyPr/>
        <a:lstStyle/>
        <a:p>
          <a:endParaRPr lang="ru-RU"/>
        </a:p>
      </dgm:t>
    </dgm:pt>
    <dgm:pt modelId="{9902582D-42AC-4E3D-9141-5A6BCD7D26AC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Агент профиля пользователя</a:t>
          </a:r>
          <a:endParaRPr lang="ru-RU" dirty="0"/>
        </a:p>
      </dgm:t>
    </dgm:pt>
    <dgm:pt modelId="{C60E0CE1-6717-4103-BE58-F5EE62BE2C32}" type="parTrans" cxnId="{41720E23-88D7-4B87-A11F-1E3C1B67AE10}">
      <dgm:prSet/>
      <dgm:spPr/>
      <dgm:t>
        <a:bodyPr/>
        <a:lstStyle/>
        <a:p>
          <a:endParaRPr lang="ru-RU"/>
        </a:p>
      </dgm:t>
    </dgm:pt>
    <dgm:pt modelId="{828EBC15-4FAD-4B61-9C18-C11994DC3A0F}" type="sibTrans" cxnId="{41720E23-88D7-4B87-A11F-1E3C1B67AE10}">
      <dgm:prSet/>
      <dgm:spPr>
        <a:ln>
          <a:solidFill>
            <a:schemeClr val="accent2"/>
          </a:solidFill>
        </a:ln>
      </dgm:spPr>
      <dgm:t>
        <a:bodyPr/>
        <a:lstStyle/>
        <a:p>
          <a:endParaRPr lang="ru-RU"/>
        </a:p>
      </dgm:t>
    </dgm:pt>
    <dgm:pt modelId="{2CEE580D-6F71-42C5-BE09-7B662942E32B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Хранилище профиля пользователя</a:t>
          </a:r>
          <a:endParaRPr lang="ru-RU" dirty="0"/>
        </a:p>
      </dgm:t>
    </dgm:pt>
    <dgm:pt modelId="{48B255D6-BF11-4BA6-A4CA-B3259B676251}" type="parTrans" cxnId="{4F2FA41F-7876-4873-8C11-2E347121646A}">
      <dgm:prSet/>
      <dgm:spPr/>
      <dgm:t>
        <a:bodyPr/>
        <a:lstStyle/>
        <a:p>
          <a:endParaRPr lang="ru-RU"/>
        </a:p>
      </dgm:t>
    </dgm:pt>
    <dgm:pt modelId="{FF05C258-AF59-4176-B195-C54ABD2D3F57}" type="sibTrans" cxnId="{4F2FA41F-7876-4873-8C11-2E347121646A}">
      <dgm:prSet/>
      <dgm:spPr>
        <a:ln>
          <a:solidFill>
            <a:schemeClr val="accent2"/>
          </a:solidFill>
        </a:ln>
      </dgm:spPr>
      <dgm:t>
        <a:bodyPr/>
        <a:lstStyle/>
        <a:p>
          <a:endParaRPr lang="ru-RU"/>
        </a:p>
      </dgm:t>
    </dgm:pt>
    <dgm:pt modelId="{3E82C4CA-CC4C-4BFE-B330-141C0D0E7686}">
      <dgm:prSet phldrT="[Текст]"/>
      <dgm:spPr/>
      <dgm:t>
        <a:bodyPr/>
        <a:lstStyle/>
        <a:p>
          <a:pPr>
            <a:buNone/>
          </a:pPr>
          <a:r>
            <a:rPr lang="en-US" b="0" i="0" dirty="0"/>
            <a:t>WordNet</a:t>
          </a:r>
          <a:endParaRPr lang="ru-RU" dirty="0"/>
        </a:p>
      </dgm:t>
    </dgm:pt>
    <dgm:pt modelId="{83EA2138-8034-45A0-ACE5-B47EBC6E5129}" type="parTrans" cxnId="{2CD60D68-0204-4711-8872-DEDD365E683A}">
      <dgm:prSet/>
      <dgm:spPr/>
      <dgm:t>
        <a:bodyPr/>
        <a:lstStyle/>
        <a:p>
          <a:endParaRPr lang="ru-RU"/>
        </a:p>
      </dgm:t>
    </dgm:pt>
    <dgm:pt modelId="{A2421943-1CFC-4924-A1F0-1F7C65E7E808}" type="sibTrans" cxnId="{2CD60D68-0204-4711-8872-DEDD365E683A}">
      <dgm:prSet>
        <dgm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ru-RU"/>
        </a:p>
      </dgm:t>
    </dgm:pt>
    <dgm:pt modelId="{9D0CED81-D40D-4FED-8BC9-9C7ABEDFA108}" type="pres">
      <dgm:prSet presAssocID="{B061A379-04ED-4315-B508-7C391B37CB4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0D8E916-E5AD-44E7-BB8C-BDA69695856F}" type="pres">
      <dgm:prSet presAssocID="{9909A777-89B0-4717-B94B-7004B242C45B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A5272E-5186-43BE-B311-78FBC4FF2D96}" type="pres">
      <dgm:prSet presAssocID="{9909A777-89B0-4717-B94B-7004B242C45B}" presName="spNode" presStyleCnt="0"/>
      <dgm:spPr/>
    </dgm:pt>
    <dgm:pt modelId="{DC322062-8A66-46AC-9952-950DBB515FEC}" type="pres">
      <dgm:prSet presAssocID="{5AD4C71C-92B7-44D6-ABCD-747BBEAB3307}" presName="sibTrans" presStyleLbl="sibTrans1D1" presStyleIdx="0" presStyleCnt="5"/>
      <dgm:spPr/>
      <dgm:t>
        <a:bodyPr/>
        <a:lstStyle/>
        <a:p>
          <a:endParaRPr lang="ru-RU"/>
        </a:p>
      </dgm:t>
    </dgm:pt>
    <dgm:pt modelId="{9DC3D719-6992-46FD-847A-55ED094B797A}" type="pres">
      <dgm:prSet presAssocID="{B714EC00-221E-4228-87F3-EF990BF823F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E57F04A-B92C-4349-B88E-4C186E690B86}" type="pres">
      <dgm:prSet presAssocID="{B714EC00-221E-4228-87F3-EF990BF823FD}" presName="spNode" presStyleCnt="0"/>
      <dgm:spPr/>
    </dgm:pt>
    <dgm:pt modelId="{2DE01874-4E59-4616-91EB-B8F5C20AF024}" type="pres">
      <dgm:prSet presAssocID="{5F0896BD-60CE-4FC6-89EA-89FA158EDC27}" presName="sibTrans" presStyleLbl="sibTrans1D1" presStyleIdx="1" presStyleCnt="5"/>
      <dgm:spPr/>
      <dgm:t>
        <a:bodyPr/>
        <a:lstStyle/>
        <a:p>
          <a:endParaRPr lang="ru-RU"/>
        </a:p>
      </dgm:t>
    </dgm:pt>
    <dgm:pt modelId="{90A8D634-0C93-4E67-9CB0-67AF3859836E}" type="pres">
      <dgm:prSet presAssocID="{9902582D-42AC-4E3D-9141-5A6BCD7D26AC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701E64-E2C2-44F7-93C6-34164F0DCF84}" type="pres">
      <dgm:prSet presAssocID="{9902582D-42AC-4E3D-9141-5A6BCD7D26AC}" presName="spNode" presStyleCnt="0"/>
      <dgm:spPr/>
    </dgm:pt>
    <dgm:pt modelId="{8F6B4C9B-2A0D-459F-9262-13F92D3520DD}" type="pres">
      <dgm:prSet presAssocID="{828EBC15-4FAD-4B61-9C18-C11994DC3A0F}" presName="sibTrans" presStyleLbl="sibTrans1D1" presStyleIdx="2" presStyleCnt="5"/>
      <dgm:spPr/>
      <dgm:t>
        <a:bodyPr/>
        <a:lstStyle/>
        <a:p>
          <a:endParaRPr lang="ru-RU"/>
        </a:p>
      </dgm:t>
    </dgm:pt>
    <dgm:pt modelId="{7A9219C3-6B51-4056-9C01-422153B3F6DD}" type="pres">
      <dgm:prSet presAssocID="{2CEE580D-6F71-42C5-BE09-7B662942E32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899586-68AD-4A4A-BCCE-A864F72A2110}" type="pres">
      <dgm:prSet presAssocID="{2CEE580D-6F71-42C5-BE09-7B662942E32B}" presName="spNode" presStyleCnt="0"/>
      <dgm:spPr/>
    </dgm:pt>
    <dgm:pt modelId="{2413315A-1D33-431E-B965-0D3A6A1A3E4E}" type="pres">
      <dgm:prSet presAssocID="{FF05C258-AF59-4176-B195-C54ABD2D3F57}" presName="sibTrans" presStyleLbl="sibTrans1D1" presStyleIdx="3" presStyleCnt="5"/>
      <dgm:spPr/>
      <dgm:t>
        <a:bodyPr/>
        <a:lstStyle/>
        <a:p>
          <a:endParaRPr lang="ru-RU"/>
        </a:p>
      </dgm:t>
    </dgm:pt>
    <dgm:pt modelId="{8ADBB904-A6D7-4A61-8D25-7CA6EEE4E1D6}" type="pres">
      <dgm:prSet presAssocID="{3E82C4CA-CC4C-4BFE-B330-141C0D0E768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6D4A1B6-26C6-4C2C-8342-6EA4710FFC17}" type="pres">
      <dgm:prSet presAssocID="{3E82C4CA-CC4C-4BFE-B330-141C0D0E7686}" presName="spNode" presStyleCnt="0"/>
      <dgm:spPr/>
    </dgm:pt>
    <dgm:pt modelId="{C9D9481F-114B-44BF-8C02-74477EE748C2}" type="pres">
      <dgm:prSet presAssocID="{A2421943-1CFC-4924-A1F0-1F7C65E7E808}" presName="sibTrans" presStyleLbl="sibTrans1D1" presStyleIdx="4" presStyleCnt="5"/>
      <dgm:spPr/>
      <dgm:t>
        <a:bodyPr/>
        <a:lstStyle/>
        <a:p>
          <a:endParaRPr lang="ru-RU"/>
        </a:p>
      </dgm:t>
    </dgm:pt>
  </dgm:ptLst>
  <dgm:cxnLst>
    <dgm:cxn modelId="{E60ABF88-F8D3-4DDB-AB2B-459560DD1911}" type="presOf" srcId="{B061A379-04ED-4315-B508-7C391B37CB40}" destId="{9D0CED81-D40D-4FED-8BC9-9C7ABEDFA108}" srcOrd="0" destOrd="0" presId="urn:microsoft.com/office/officeart/2005/8/layout/cycle6"/>
    <dgm:cxn modelId="{D17C3FEB-B86C-4932-9F8B-BCDDAAAFC461}" type="presOf" srcId="{5AD4C71C-92B7-44D6-ABCD-747BBEAB3307}" destId="{DC322062-8A66-46AC-9952-950DBB515FEC}" srcOrd="0" destOrd="0" presId="urn:microsoft.com/office/officeart/2005/8/layout/cycle6"/>
    <dgm:cxn modelId="{12254AEF-0C8A-4F44-9491-0C0DA8A37A8D}" type="presOf" srcId="{828EBC15-4FAD-4B61-9C18-C11994DC3A0F}" destId="{8F6B4C9B-2A0D-459F-9262-13F92D3520DD}" srcOrd="0" destOrd="0" presId="urn:microsoft.com/office/officeart/2005/8/layout/cycle6"/>
    <dgm:cxn modelId="{F4E5EB04-3E8D-4BF3-A0D6-7FC14F86533B}" type="presOf" srcId="{B714EC00-221E-4228-87F3-EF990BF823FD}" destId="{9DC3D719-6992-46FD-847A-55ED094B797A}" srcOrd="0" destOrd="0" presId="urn:microsoft.com/office/officeart/2005/8/layout/cycle6"/>
    <dgm:cxn modelId="{4F2FA41F-7876-4873-8C11-2E347121646A}" srcId="{B061A379-04ED-4315-B508-7C391B37CB40}" destId="{2CEE580D-6F71-42C5-BE09-7B662942E32B}" srcOrd="3" destOrd="0" parTransId="{48B255D6-BF11-4BA6-A4CA-B3259B676251}" sibTransId="{FF05C258-AF59-4176-B195-C54ABD2D3F57}"/>
    <dgm:cxn modelId="{627A456C-020E-4C40-A033-B4ED8F1B7522}" srcId="{B061A379-04ED-4315-B508-7C391B37CB40}" destId="{9909A777-89B0-4717-B94B-7004B242C45B}" srcOrd="0" destOrd="0" parTransId="{A606E474-2C43-451B-865A-7194AFA8365C}" sibTransId="{5AD4C71C-92B7-44D6-ABCD-747BBEAB3307}"/>
    <dgm:cxn modelId="{70E883A1-B1A6-4D55-BACC-9AA287F0DDD5}" type="presOf" srcId="{3E82C4CA-CC4C-4BFE-B330-141C0D0E7686}" destId="{8ADBB904-A6D7-4A61-8D25-7CA6EEE4E1D6}" srcOrd="0" destOrd="0" presId="urn:microsoft.com/office/officeart/2005/8/layout/cycle6"/>
    <dgm:cxn modelId="{988F8E4B-E079-4C75-8EAF-D494CFADD2AD}" type="presOf" srcId="{9909A777-89B0-4717-B94B-7004B242C45B}" destId="{40D8E916-E5AD-44E7-BB8C-BDA69695856F}" srcOrd="0" destOrd="0" presId="urn:microsoft.com/office/officeart/2005/8/layout/cycle6"/>
    <dgm:cxn modelId="{143A929C-255F-4E2F-8AFC-4D562D13EA78}" type="presOf" srcId="{2CEE580D-6F71-42C5-BE09-7B662942E32B}" destId="{7A9219C3-6B51-4056-9C01-422153B3F6DD}" srcOrd="0" destOrd="0" presId="urn:microsoft.com/office/officeart/2005/8/layout/cycle6"/>
    <dgm:cxn modelId="{41720E23-88D7-4B87-A11F-1E3C1B67AE10}" srcId="{B061A379-04ED-4315-B508-7C391B37CB40}" destId="{9902582D-42AC-4E3D-9141-5A6BCD7D26AC}" srcOrd="2" destOrd="0" parTransId="{C60E0CE1-6717-4103-BE58-F5EE62BE2C32}" sibTransId="{828EBC15-4FAD-4B61-9C18-C11994DC3A0F}"/>
    <dgm:cxn modelId="{D78D9941-56A4-44B2-9385-090E13F83C7E}" type="presOf" srcId="{9902582D-42AC-4E3D-9141-5A6BCD7D26AC}" destId="{90A8D634-0C93-4E67-9CB0-67AF3859836E}" srcOrd="0" destOrd="0" presId="urn:microsoft.com/office/officeart/2005/8/layout/cycle6"/>
    <dgm:cxn modelId="{3481287F-D3D0-4B8B-A29B-B94CF3039299}" type="presOf" srcId="{A2421943-1CFC-4924-A1F0-1F7C65E7E808}" destId="{C9D9481F-114B-44BF-8C02-74477EE748C2}" srcOrd="0" destOrd="0" presId="urn:microsoft.com/office/officeart/2005/8/layout/cycle6"/>
    <dgm:cxn modelId="{C23EFAC8-0305-486F-8A4A-3D3E23AB2728}" type="presOf" srcId="{FF05C258-AF59-4176-B195-C54ABD2D3F57}" destId="{2413315A-1D33-431E-B965-0D3A6A1A3E4E}" srcOrd="0" destOrd="0" presId="urn:microsoft.com/office/officeart/2005/8/layout/cycle6"/>
    <dgm:cxn modelId="{A78B19B9-7662-44CC-B551-40A85AAF6FBA}" srcId="{B061A379-04ED-4315-B508-7C391B37CB40}" destId="{B714EC00-221E-4228-87F3-EF990BF823FD}" srcOrd="1" destOrd="0" parTransId="{42F97102-BF43-4392-9217-A05E7E9BA1DE}" sibTransId="{5F0896BD-60CE-4FC6-89EA-89FA158EDC27}"/>
    <dgm:cxn modelId="{59D1C602-2362-4E7A-86CF-0D6E35896E5B}" type="presOf" srcId="{5F0896BD-60CE-4FC6-89EA-89FA158EDC27}" destId="{2DE01874-4E59-4616-91EB-B8F5C20AF024}" srcOrd="0" destOrd="0" presId="urn:microsoft.com/office/officeart/2005/8/layout/cycle6"/>
    <dgm:cxn modelId="{2CD60D68-0204-4711-8872-DEDD365E683A}" srcId="{B061A379-04ED-4315-B508-7C391B37CB40}" destId="{3E82C4CA-CC4C-4BFE-B330-141C0D0E7686}" srcOrd="4" destOrd="0" parTransId="{83EA2138-8034-45A0-ACE5-B47EBC6E5129}" sibTransId="{A2421943-1CFC-4924-A1F0-1F7C65E7E808}"/>
    <dgm:cxn modelId="{9149A926-22BA-42F0-A13E-796196645960}" type="presParOf" srcId="{9D0CED81-D40D-4FED-8BC9-9C7ABEDFA108}" destId="{40D8E916-E5AD-44E7-BB8C-BDA69695856F}" srcOrd="0" destOrd="0" presId="urn:microsoft.com/office/officeart/2005/8/layout/cycle6"/>
    <dgm:cxn modelId="{7297FC53-5AF7-4184-A9C1-ABF3202B62EA}" type="presParOf" srcId="{9D0CED81-D40D-4FED-8BC9-9C7ABEDFA108}" destId="{DFA5272E-5186-43BE-B311-78FBC4FF2D96}" srcOrd="1" destOrd="0" presId="urn:microsoft.com/office/officeart/2005/8/layout/cycle6"/>
    <dgm:cxn modelId="{F010C16A-AF9C-4498-BF40-B71966C896F0}" type="presParOf" srcId="{9D0CED81-D40D-4FED-8BC9-9C7ABEDFA108}" destId="{DC322062-8A66-46AC-9952-950DBB515FEC}" srcOrd="2" destOrd="0" presId="urn:microsoft.com/office/officeart/2005/8/layout/cycle6"/>
    <dgm:cxn modelId="{217630AE-07C0-4CEC-9AB1-6A25FED02B85}" type="presParOf" srcId="{9D0CED81-D40D-4FED-8BC9-9C7ABEDFA108}" destId="{9DC3D719-6992-46FD-847A-55ED094B797A}" srcOrd="3" destOrd="0" presId="urn:microsoft.com/office/officeart/2005/8/layout/cycle6"/>
    <dgm:cxn modelId="{0A52A768-777C-45C3-A835-C87E780F5822}" type="presParOf" srcId="{9D0CED81-D40D-4FED-8BC9-9C7ABEDFA108}" destId="{4E57F04A-B92C-4349-B88E-4C186E690B86}" srcOrd="4" destOrd="0" presId="urn:microsoft.com/office/officeart/2005/8/layout/cycle6"/>
    <dgm:cxn modelId="{33C51B93-4BAD-4BAA-9AEA-1E2CF0C14085}" type="presParOf" srcId="{9D0CED81-D40D-4FED-8BC9-9C7ABEDFA108}" destId="{2DE01874-4E59-4616-91EB-B8F5C20AF024}" srcOrd="5" destOrd="0" presId="urn:microsoft.com/office/officeart/2005/8/layout/cycle6"/>
    <dgm:cxn modelId="{A6F19879-764D-4314-A91D-DDC4CB188D56}" type="presParOf" srcId="{9D0CED81-D40D-4FED-8BC9-9C7ABEDFA108}" destId="{90A8D634-0C93-4E67-9CB0-67AF3859836E}" srcOrd="6" destOrd="0" presId="urn:microsoft.com/office/officeart/2005/8/layout/cycle6"/>
    <dgm:cxn modelId="{A10BF085-2127-46FA-B586-4D7789D00CE4}" type="presParOf" srcId="{9D0CED81-D40D-4FED-8BC9-9C7ABEDFA108}" destId="{CA701E64-E2C2-44F7-93C6-34164F0DCF84}" srcOrd="7" destOrd="0" presId="urn:microsoft.com/office/officeart/2005/8/layout/cycle6"/>
    <dgm:cxn modelId="{064B4DBF-8D3A-4141-99DC-53CEB89064C1}" type="presParOf" srcId="{9D0CED81-D40D-4FED-8BC9-9C7ABEDFA108}" destId="{8F6B4C9B-2A0D-459F-9262-13F92D3520DD}" srcOrd="8" destOrd="0" presId="urn:microsoft.com/office/officeart/2005/8/layout/cycle6"/>
    <dgm:cxn modelId="{1A17FE5E-9FB4-4E2B-A77E-B3FBDED0079A}" type="presParOf" srcId="{9D0CED81-D40D-4FED-8BC9-9C7ABEDFA108}" destId="{7A9219C3-6B51-4056-9C01-422153B3F6DD}" srcOrd="9" destOrd="0" presId="urn:microsoft.com/office/officeart/2005/8/layout/cycle6"/>
    <dgm:cxn modelId="{5AA3BBA5-01BE-4047-9B1D-ED4A4CCC5512}" type="presParOf" srcId="{9D0CED81-D40D-4FED-8BC9-9C7ABEDFA108}" destId="{2D899586-68AD-4A4A-BCCE-A864F72A2110}" srcOrd="10" destOrd="0" presId="urn:microsoft.com/office/officeart/2005/8/layout/cycle6"/>
    <dgm:cxn modelId="{1BDDD643-56D8-4D76-9D2A-774D1BE91B44}" type="presParOf" srcId="{9D0CED81-D40D-4FED-8BC9-9C7ABEDFA108}" destId="{2413315A-1D33-431E-B965-0D3A6A1A3E4E}" srcOrd="11" destOrd="0" presId="urn:microsoft.com/office/officeart/2005/8/layout/cycle6"/>
    <dgm:cxn modelId="{2B68E988-4C4D-4BFE-A203-A25E65D48533}" type="presParOf" srcId="{9D0CED81-D40D-4FED-8BC9-9C7ABEDFA108}" destId="{8ADBB904-A6D7-4A61-8D25-7CA6EEE4E1D6}" srcOrd="12" destOrd="0" presId="urn:microsoft.com/office/officeart/2005/8/layout/cycle6"/>
    <dgm:cxn modelId="{C730B3F1-11A2-4BFC-BA8D-4DED3E9865B0}" type="presParOf" srcId="{9D0CED81-D40D-4FED-8BC9-9C7ABEDFA108}" destId="{16D4A1B6-26C6-4C2C-8342-6EA4710FFC17}" srcOrd="13" destOrd="0" presId="urn:microsoft.com/office/officeart/2005/8/layout/cycle6"/>
    <dgm:cxn modelId="{308098C8-B913-4566-8350-4F957E315820}" type="presParOf" srcId="{9D0CED81-D40D-4FED-8BC9-9C7ABEDFA108}" destId="{C9D9481F-114B-44BF-8C02-74477EE748C2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6ACC17-176D-4868-980D-A59282CFD79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474F187-88D3-420C-BA48-727399EDC8D9}">
      <dgm:prSet phldrT="[Текст]" phldr="0"/>
      <dgm:spPr/>
      <dgm:t>
        <a:bodyPr/>
        <a:lstStyle/>
        <a:p>
          <a:endParaRPr lang="ru-RU" dirty="0"/>
        </a:p>
      </dgm:t>
    </dgm:pt>
    <dgm:pt modelId="{3C7F4F3C-EBA1-4C64-BF0E-FAB0B23DAB8C}" type="parTrans" cxnId="{C4C8FB61-D5DE-4F8C-B542-DCE9CDE1E19A}">
      <dgm:prSet/>
      <dgm:spPr/>
      <dgm:t>
        <a:bodyPr/>
        <a:lstStyle/>
        <a:p>
          <a:endParaRPr lang="ru-RU"/>
        </a:p>
      </dgm:t>
    </dgm:pt>
    <dgm:pt modelId="{AEC5C6CB-6237-4FEE-B807-6A7290CFFA05}" type="sibTrans" cxnId="{C4C8FB61-D5DE-4F8C-B542-DCE9CDE1E19A}">
      <dgm:prSet/>
      <dgm:spPr/>
      <dgm:t>
        <a:bodyPr/>
        <a:lstStyle/>
        <a:p>
          <a:endParaRPr lang="ru-RU"/>
        </a:p>
      </dgm:t>
    </dgm:pt>
    <dgm:pt modelId="{E14C012C-33AF-446A-9BB7-42DCBCCF70DD}">
      <dgm:prSet phldrT="[Текст]" phldr="0" custT="1"/>
      <dgm:spPr/>
      <dgm:t>
        <a:bodyPr/>
        <a:lstStyle/>
        <a:p>
          <a:pPr>
            <a:buNone/>
          </a:pPr>
          <a:r>
            <a:rPr lang="ru-RU" sz="1800" dirty="0"/>
            <a:t>Тема для каждого слова.</a:t>
          </a:r>
        </a:p>
      </dgm:t>
    </dgm:pt>
    <dgm:pt modelId="{58D01963-2C8C-408F-96E1-A572492DBF4D}" type="parTrans" cxnId="{DEDCB3B4-1093-4BB7-86B0-692F5929C235}">
      <dgm:prSet/>
      <dgm:spPr/>
      <dgm:t>
        <a:bodyPr/>
        <a:lstStyle/>
        <a:p>
          <a:endParaRPr lang="ru-RU"/>
        </a:p>
      </dgm:t>
    </dgm:pt>
    <dgm:pt modelId="{8783DC07-4C93-41A6-9EF1-2AA71F76B1FB}" type="sibTrans" cxnId="{DEDCB3B4-1093-4BB7-86B0-692F5929C235}">
      <dgm:prSet/>
      <dgm:spPr/>
      <dgm:t>
        <a:bodyPr/>
        <a:lstStyle/>
        <a:p>
          <a:endParaRPr lang="ru-RU"/>
        </a:p>
      </dgm:t>
    </dgm:pt>
    <dgm:pt modelId="{0AEB5C79-FD4C-4DF4-812D-A9F5E179536F}">
      <dgm:prSet phldrT="[Текст]" phldr="0"/>
      <dgm:spPr/>
      <dgm:t>
        <a:bodyPr/>
        <a:lstStyle/>
        <a:p>
          <a:endParaRPr lang="ru-RU" dirty="0"/>
        </a:p>
      </dgm:t>
    </dgm:pt>
    <dgm:pt modelId="{EA6214A5-1D88-4E85-89B8-8A41D8B52339}" type="parTrans" cxnId="{3334E27F-A025-45B2-999C-850542FE7BCE}">
      <dgm:prSet/>
      <dgm:spPr/>
      <dgm:t>
        <a:bodyPr/>
        <a:lstStyle/>
        <a:p>
          <a:endParaRPr lang="ru-RU"/>
        </a:p>
      </dgm:t>
    </dgm:pt>
    <dgm:pt modelId="{6A226445-425A-4952-98B6-94081B27E10A}" type="sibTrans" cxnId="{3334E27F-A025-45B2-999C-850542FE7BCE}">
      <dgm:prSet/>
      <dgm:spPr/>
      <dgm:t>
        <a:bodyPr/>
        <a:lstStyle/>
        <a:p>
          <a:endParaRPr lang="ru-RU"/>
        </a:p>
      </dgm:t>
    </dgm:pt>
    <dgm:pt modelId="{428CFF98-CC28-49F0-A81B-47661B45BB0B}">
      <dgm:prSet phldrT="[Текст]" custT="1"/>
      <dgm:spPr/>
      <dgm:t>
        <a:bodyPr/>
        <a:lstStyle/>
        <a:p>
          <a:pPr>
            <a:buNone/>
          </a:pPr>
          <a:r>
            <a:rPr lang="ru-RU" sz="1800" b="0" i="0" dirty="0"/>
            <a:t>Главная тема (темы, если требуется).</a:t>
          </a:r>
          <a:endParaRPr lang="ru-RU" sz="1800" dirty="0"/>
        </a:p>
      </dgm:t>
    </dgm:pt>
    <dgm:pt modelId="{0F4C7985-809C-4ACB-A093-E9223A0736DE}" type="parTrans" cxnId="{70895161-B79B-4303-AE79-6405D6915891}">
      <dgm:prSet/>
      <dgm:spPr/>
      <dgm:t>
        <a:bodyPr/>
        <a:lstStyle/>
        <a:p>
          <a:endParaRPr lang="ru-RU"/>
        </a:p>
      </dgm:t>
    </dgm:pt>
    <dgm:pt modelId="{E9973805-C783-4952-ADB0-3B9719927FD7}" type="sibTrans" cxnId="{70895161-B79B-4303-AE79-6405D6915891}">
      <dgm:prSet/>
      <dgm:spPr/>
      <dgm:t>
        <a:bodyPr/>
        <a:lstStyle/>
        <a:p>
          <a:endParaRPr lang="ru-RU"/>
        </a:p>
      </dgm:t>
    </dgm:pt>
    <dgm:pt modelId="{78400D5E-0E5D-4CB8-9472-1E931A883A4E}">
      <dgm:prSet phldrT="[Текст]" phldr="0"/>
      <dgm:spPr/>
      <dgm:t>
        <a:bodyPr/>
        <a:lstStyle/>
        <a:p>
          <a:endParaRPr lang="ru-RU" dirty="0"/>
        </a:p>
      </dgm:t>
    </dgm:pt>
    <dgm:pt modelId="{5BDAA875-D65E-4D57-82BB-7B4DA2ADE845}" type="parTrans" cxnId="{EA5AB177-3444-4C31-82E8-EAE9A1F419BE}">
      <dgm:prSet/>
      <dgm:spPr/>
      <dgm:t>
        <a:bodyPr/>
        <a:lstStyle/>
        <a:p>
          <a:endParaRPr lang="ru-RU"/>
        </a:p>
      </dgm:t>
    </dgm:pt>
    <dgm:pt modelId="{5F1F79E3-3C5A-4AC7-AF1A-0B327C5115D9}" type="sibTrans" cxnId="{EA5AB177-3444-4C31-82E8-EAE9A1F419BE}">
      <dgm:prSet/>
      <dgm:spPr/>
      <dgm:t>
        <a:bodyPr/>
        <a:lstStyle/>
        <a:p>
          <a:endParaRPr lang="ru-RU"/>
        </a:p>
      </dgm:t>
    </dgm:pt>
    <dgm:pt modelId="{5F303335-76BE-4DCC-A107-06047ADA1156}">
      <dgm:prSet phldrT="[Текст]" custT="1"/>
      <dgm:spPr/>
      <dgm:t>
        <a:bodyPr/>
        <a:lstStyle/>
        <a:p>
          <a:pPr>
            <a:buNone/>
          </a:pPr>
          <a:r>
            <a:rPr lang="ru-RU" sz="1800" b="0" i="0" dirty="0"/>
            <a:t>Похожие слова из профиля и синонимы.</a:t>
          </a:r>
          <a:endParaRPr lang="ru-RU" sz="1800" dirty="0"/>
        </a:p>
      </dgm:t>
    </dgm:pt>
    <dgm:pt modelId="{F731D172-931C-4E88-999F-1DEA19533D1A}" type="parTrans" cxnId="{8689D31D-5475-4486-94DB-85A2540C4DBE}">
      <dgm:prSet/>
      <dgm:spPr/>
      <dgm:t>
        <a:bodyPr/>
        <a:lstStyle/>
        <a:p>
          <a:endParaRPr lang="ru-RU"/>
        </a:p>
      </dgm:t>
    </dgm:pt>
    <dgm:pt modelId="{D479CF41-5BF8-435C-9D2C-0CCD4697EA88}" type="sibTrans" cxnId="{8689D31D-5475-4486-94DB-85A2540C4DBE}">
      <dgm:prSet/>
      <dgm:spPr/>
      <dgm:t>
        <a:bodyPr/>
        <a:lstStyle/>
        <a:p>
          <a:endParaRPr lang="ru-RU"/>
        </a:p>
      </dgm:t>
    </dgm:pt>
    <dgm:pt modelId="{49CD3BAF-F7DC-494A-A92C-B04E0044CBF7}" type="pres">
      <dgm:prSet presAssocID="{276ACC17-176D-4868-980D-A59282CFD79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E95EC09-9332-4FAC-B662-6E2AF4751DE4}" type="pres">
      <dgm:prSet presAssocID="{F474F187-88D3-420C-BA48-727399EDC8D9}" presName="composite" presStyleCnt="0"/>
      <dgm:spPr/>
    </dgm:pt>
    <dgm:pt modelId="{AAF5BD93-34DF-4CE5-B5E6-EED6515A75CB}" type="pres">
      <dgm:prSet presAssocID="{F474F187-88D3-420C-BA48-727399EDC8D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449F04C-5BEE-4600-B88E-3C6AE5A3622D}" type="pres">
      <dgm:prSet presAssocID="{F474F187-88D3-420C-BA48-727399EDC8D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81C545-DFD7-4197-B4EB-FB739520148B}" type="pres">
      <dgm:prSet presAssocID="{AEC5C6CB-6237-4FEE-B807-6A7290CFFA05}" presName="sp" presStyleCnt="0"/>
      <dgm:spPr/>
    </dgm:pt>
    <dgm:pt modelId="{DD58049F-FA3F-4F30-A225-ADE8CBFE0CE7}" type="pres">
      <dgm:prSet presAssocID="{0AEB5C79-FD4C-4DF4-812D-A9F5E179536F}" presName="composite" presStyleCnt="0"/>
      <dgm:spPr/>
    </dgm:pt>
    <dgm:pt modelId="{8C37A35C-EBA5-4B08-9085-026F23970A81}" type="pres">
      <dgm:prSet presAssocID="{0AEB5C79-FD4C-4DF4-812D-A9F5E179536F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98CB9A-4A01-450C-8C0E-BDC2556BB160}" type="pres">
      <dgm:prSet presAssocID="{0AEB5C79-FD4C-4DF4-812D-A9F5E179536F}" presName="descendantText" presStyleLbl="alignAcc1" presStyleIdx="1" presStyleCnt="3" custLinFactNeighborX="17331" custLinFactNeighborY="156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720DC83-355A-4C1A-B6DB-B75DD2EFA149}" type="pres">
      <dgm:prSet presAssocID="{6A226445-425A-4952-98B6-94081B27E10A}" presName="sp" presStyleCnt="0"/>
      <dgm:spPr/>
    </dgm:pt>
    <dgm:pt modelId="{1D96BE07-43F7-429A-AD97-415940E6CCE1}" type="pres">
      <dgm:prSet presAssocID="{78400D5E-0E5D-4CB8-9472-1E931A883A4E}" presName="composite" presStyleCnt="0"/>
      <dgm:spPr/>
    </dgm:pt>
    <dgm:pt modelId="{D4677252-8B7A-4E2F-A5F3-35EF4AE063E8}" type="pres">
      <dgm:prSet presAssocID="{78400D5E-0E5D-4CB8-9472-1E931A883A4E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31E5E6-82C3-4A62-A380-EDA1649302CE}" type="pres">
      <dgm:prSet presAssocID="{78400D5E-0E5D-4CB8-9472-1E931A883A4E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A40B93B-C61A-4465-9A65-9686052D727F}" type="presOf" srcId="{428CFF98-CC28-49F0-A81B-47661B45BB0B}" destId="{5198CB9A-4A01-450C-8C0E-BDC2556BB160}" srcOrd="0" destOrd="0" presId="urn:microsoft.com/office/officeart/2005/8/layout/chevron2"/>
    <dgm:cxn modelId="{EA5AB177-3444-4C31-82E8-EAE9A1F419BE}" srcId="{276ACC17-176D-4868-980D-A59282CFD794}" destId="{78400D5E-0E5D-4CB8-9472-1E931A883A4E}" srcOrd="2" destOrd="0" parTransId="{5BDAA875-D65E-4D57-82BB-7B4DA2ADE845}" sibTransId="{5F1F79E3-3C5A-4AC7-AF1A-0B327C5115D9}"/>
    <dgm:cxn modelId="{3334E27F-A025-45B2-999C-850542FE7BCE}" srcId="{276ACC17-176D-4868-980D-A59282CFD794}" destId="{0AEB5C79-FD4C-4DF4-812D-A9F5E179536F}" srcOrd="1" destOrd="0" parTransId="{EA6214A5-1D88-4E85-89B8-8A41D8B52339}" sibTransId="{6A226445-425A-4952-98B6-94081B27E10A}"/>
    <dgm:cxn modelId="{C4C8FB61-D5DE-4F8C-B542-DCE9CDE1E19A}" srcId="{276ACC17-176D-4868-980D-A59282CFD794}" destId="{F474F187-88D3-420C-BA48-727399EDC8D9}" srcOrd="0" destOrd="0" parTransId="{3C7F4F3C-EBA1-4C64-BF0E-FAB0B23DAB8C}" sibTransId="{AEC5C6CB-6237-4FEE-B807-6A7290CFFA05}"/>
    <dgm:cxn modelId="{7A092C00-7756-4B00-B8AA-C29B743CD395}" type="presOf" srcId="{5F303335-76BE-4DCC-A107-06047ADA1156}" destId="{FE31E5E6-82C3-4A62-A380-EDA1649302CE}" srcOrd="0" destOrd="0" presId="urn:microsoft.com/office/officeart/2005/8/layout/chevron2"/>
    <dgm:cxn modelId="{4A1E1351-131C-4A52-865D-1011C3FD2B36}" type="presOf" srcId="{F474F187-88D3-420C-BA48-727399EDC8D9}" destId="{AAF5BD93-34DF-4CE5-B5E6-EED6515A75CB}" srcOrd="0" destOrd="0" presId="urn:microsoft.com/office/officeart/2005/8/layout/chevron2"/>
    <dgm:cxn modelId="{8689D31D-5475-4486-94DB-85A2540C4DBE}" srcId="{78400D5E-0E5D-4CB8-9472-1E931A883A4E}" destId="{5F303335-76BE-4DCC-A107-06047ADA1156}" srcOrd="0" destOrd="0" parTransId="{F731D172-931C-4E88-999F-1DEA19533D1A}" sibTransId="{D479CF41-5BF8-435C-9D2C-0CCD4697EA88}"/>
    <dgm:cxn modelId="{27DD97E0-44C8-4505-A357-CD53E1A08955}" type="presOf" srcId="{78400D5E-0E5D-4CB8-9472-1E931A883A4E}" destId="{D4677252-8B7A-4E2F-A5F3-35EF4AE063E8}" srcOrd="0" destOrd="0" presId="urn:microsoft.com/office/officeart/2005/8/layout/chevron2"/>
    <dgm:cxn modelId="{BB45036F-86D5-4BA8-9A09-E8B10C355434}" type="presOf" srcId="{0AEB5C79-FD4C-4DF4-812D-A9F5E179536F}" destId="{8C37A35C-EBA5-4B08-9085-026F23970A81}" srcOrd="0" destOrd="0" presId="urn:microsoft.com/office/officeart/2005/8/layout/chevron2"/>
    <dgm:cxn modelId="{9773883F-84FB-45A1-9859-F7B6C93D7A50}" type="presOf" srcId="{E14C012C-33AF-446A-9BB7-42DCBCCF70DD}" destId="{1449F04C-5BEE-4600-B88E-3C6AE5A3622D}" srcOrd="0" destOrd="0" presId="urn:microsoft.com/office/officeart/2005/8/layout/chevron2"/>
    <dgm:cxn modelId="{70895161-B79B-4303-AE79-6405D6915891}" srcId="{0AEB5C79-FD4C-4DF4-812D-A9F5E179536F}" destId="{428CFF98-CC28-49F0-A81B-47661B45BB0B}" srcOrd="0" destOrd="0" parTransId="{0F4C7985-809C-4ACB-A093-E9223A0736DE}" sibTransId="{E9973805-C783-4952-ADB0-3B9719927FD7}"/>
    <dgm:cxn modelId="{DEDCB3B4-1093-4BB7-86B0-692F5929C235}" srcId="{F474F187-88D3-420C-BA48-727399EDC8D9}" destId="{E14C012C-33AF-446A-9BB7-42DCBCCF70DD}" srcOrd="0" destOrd="0" parTransId="{58D01963-2C8C-408F-96E1-A572492DBF4D}" sibTransId="{8783DC07-4C93-41A6-9EF1-2AA71F76B1FB}"/>
    <dgm:cxn modelId="{248B92EB-EBD3-49AF-A880-F534136A0F2E}" type="presOf" srcId="{276ACC17-176D-4868-980D-A59282CFD794}" destId="{49CD3BAF-F7DC-494A-A92C-B04E0044CBF7}" srcOrd="0" destOrd="0" presId="urn:microsoft.com/office/officeart/2005/8/layout/chevron2"/>
    <dgm:cxn modelId="{C2F1BEE0-2096-401A-A887-EEE2DD62C7F8}" type="presParOf" srcId="{49CD3BAF-F7DC-494A-A92C-B04E0044CBF7}" destId="{6E95EC09-9332-4FAC-B662-6E2AF4751DE4}" srcOrd="0" destOrd="0" presId="urn:microsoft.com/office/officeart/2005/8/layout/chevron2"/>
    <dgm:cxn modelId="{0A41ABD6-BDF5-4F96-ADFB-0E9B66574DED}" type="presParOf" srcId="{6E95EC09-9332-4FAC-B662-6E2AF4751DE4}" destId="{AAF5BD93-34DF-4CE5-B5E6-EED6515A75CB}" srcOrd="0" destOrd="0" presId="urn:microsoft.com/office/officeart/2005/8/layout/chevron2"/>
    <dgm:cxn modelId="{22658AC1-42C6-4E80-8EB0-EFBD800296DE}" type="presParOf" srcId="{6E95EC09-9332-4FAC-B662-6E2AF4751DE4}" destId="{1449F04C-5BEE-4600-B88E-3C6AE5A3622D}" srcOrd="1" destOrd="0" presId="urn:microsoft.com/office/officeart/2005/8/layout/chevron2"/>
    <dgm:cxn modelId="{2F66F367-A15F-48AA-A45D-DA8842E174BA}" type="presParOf" srcId="{49CD3BAF-F7DC-494A-A92C-B04E0044CBF7}" destId="{AB81C545-DFD7-4197-B4EB-FB739520148B}" srcOrd="1" destOrd="0" presId="urn:microsoft.com/office/officeart/2005/8/layout/chevron2"/>
    <dgm:cxn modelId="{E82EF272-B509-4E5B-B38A-613D880AE5F3}" type="presParOf" srcId="{49CD3BAF-F7DC-494A-A92C-B04E0044CBF7}" destId="{DD58049F-FA3F-4F30-A225-ADE8CBFE0CE7}" srcOrd="2" destOrd="0" presId="urn:microsoft.com/office/officeart/2005/8/layout/chevron2"/>
    <dgm:cxn modelId="{59341E5C-2EA0-4E24-BA0C-5605D047BFD2}" type="presParOf" srcId="{DD58049F-FA3F-4F30-A225-ADE8CBFE0CE7}" destId="{8C37A35C-EBA5-4B08-9085-026F23970A81}" srcOrd="0" destOrd="0" presId="urn:microsoft.com/office/officeart/2005/8/layout/chevron2"/>
    <dgm:cxn modelId="{76AAFD7D-CAB6-4417-9AE9-6A9862FE5D1B}" type="presParOf" srcId="{DD58049F-FA3F-4F30-A225-ADE8CBFE0CE7}" destId="{5198CB9A-4A01-450C-8C0E-BDC2556BB160}" srcOrd="1" destOrd="0" presId="urn:microsoft.com/office/officeart/2005/8/layout/chevron2"/>
    <dgm:cxn modelId="{22C0C867-EB98-442B-966D-38F5E4B82791}" type="presParOf" srcId="{49CD3BAF-F7DC-494A-A92C-B04E0044CBF7}" destId="{C720DC83-355A-4C1A-B6DB-B75DD2EFA149}" srcOrd="3" destOrd="0" presId="urn:microsoft.com/office/officeart/2005/8/layout/chevron2"/>
    <dgm:cxn modelId="{AB20FC2A-B110-44B1-9787-6E4E70E8604C}" type="presParOf" srcId="{49CD3BAF-F7DC-494A-A92C-B04E0044CBF7}" destId="{1D96BE07-43F7-429A-AD97-415940E6CCE1}" srcOrd="4" destOrd="0" presId="urn:microsoft.com/office/officeart/2005/8/layout/chevron2"/>
    <dgm:cxn modelId="{C5FEC404-4156-44CD-B879-BAED4711301C}" type="presParOf" srcId="{1D96BE07-43F7-429A-AD97-415940E6CCE1}" destId="{D4677252-8B7A-4E2F-A5F3-35EF4AE063E8}" srcOrd="0" destOrd="0" presId="urn:microsoft.com/office/officeart/2005/8/layout/chevron2"/>
    <dgm:cxn modelId="{78FEB461-A594-4804-8412-873F8BA696E8}" type="presParOf" srcId="{1D96BE07-43F7-429A-AD97-415940E6CCE1}" destId="{FE31E5E6-82C3-4A62-A380-EDA1649302C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8E916-E5AD-44E7-BB8C-BDA69695856F}">
      <dsp:nvSpPr>
        <dsp:cNvPr id="0" name=""/>
        <dsp:cNvSpPr/>
      </dsp:nvSpPr>
      <dsp:spPr>
        <a:xfrm>
          <a:off x="1880592" y="182759"/>
          <a:ext cx="1522015" cy="989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Агент интерфейса</a:t>
          </a:r>
          <a:endParaRPr lang="ru-RU" sz="1700" kern="1200" dirty="0"/>
        </a:p>
      </dsp:txBody>
      <dsp:txXfrm>
        <a:off x="1928886" y="231053"/>
        <a:ext cx="1425427" cy="892722"/>
      </dsp:txXfrm>
    </dsp:sp>
    <dsp:sp modelId="{DC322062-8A66-46AC-9952-950DBB515FEC}">
      <dsp:nvSpPr>
        <dsp:cNvPr id="0" name=""/>
        <dsp:cNvSpPr/>
      </dsp:nvSpPr>
      <dsp:spPr>
        <a:xfrm>
          <a:off x="666024" y="677414"/>
          <a:ext cx="3951150" cy="3951150"/>
        </a:xfrm>
        <a:custGeom>
          <a:avLst/>
          <a:gdLst/>
          <a:ahLst/>
          <a:cxnLst/>
          <a:rect l="0" t="0" r="0" b="0"/>
          <a:pathLst>
            <a:path>
              <a:moveTo>
                <a:pt x="2747026" y="156850"/>
              </a:moveTo>
              <a:arcTo wR="1975575" hR="1975575" stAng="17579117" swAng="1960298"/>
            </a:path>
          </a:pathLst>
        </a:custGeom>
        <a:noFill/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3D719-6992-46FD-847A-55ED094B797A}">
      <dsp:nvSpPr>
        <dsp:cNvPr id="0" name=""/>
        <dsp:cNvSpPr/>
      </dsp:nvSpPr>
      <dsp:spPr>
        <a:xfrm>
          <a:off x="3759475" y="1547848"/>
          <a:ext cx="1522015" cy="989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Мета-поисковый агент</a:t>
          </a:r>
          <a:endParaRPr lang="ru-RU" sz="1700" kern="1200" dirty="0"/>
        </a:p>
      </dsp:txBody>
      <dsp:txXfrm>
        <a:off x="3807769" y="1596142"/>
        <a:ext cx="1425427" cy="892722"/>
      </dsp:txXfrm>
    </dsp:sp>
    <dsp:sp modelId="{2DE01874-4E59-4616-91EB-B8F5C20AF024}">
      <dsp:nvSpPr>
        <dsp:cNvPr id="0" name=""/>
        <dsp:cNvSpPr/>
      </dsp:nvSpPr>
      <dsp:spPr>
        <a:xfrm>
          <a:off x="666024" y="677414"/>
          <a:ext cx="3951150" cy="3951150"/>
        </a:xfrm>
        <a:custGeom>
          <a:avLst/>
          <a:gdLst/>
          <a:ahLst/>
          <a:cxnLst/>
          <a:rect l="0" t="0" r="0" b="0"/>
          <a:pathLst>
            <a:path>
              <a:moveTo>
                <a:pt x="3948452" y="1872367"/>
              </a:moveTo>
              <a:arcTo wR="1975575" hR="1975575" stAng="21420323" swAng="2195350"/>
            </a:path>
          </a:pathLst>
        </a:custGeom>
        <a:noFill/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A8D634-0C93-4E67-9CB0-67AF3859836E}">
      <dsp:nvSpPr>
        <dsp:cNvPr id="0" name=""/>
        <dsp:cNvSpPr/>
      </dsp:nvSpPr>
      <dsp:spPr>
        <a:xfrm>
          <a:off x="3041806" y="3756609"/>
          <a:ext cx="1522015" cy="989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Агент профиля пользователя</a:t>
          </a:r>
          <a:endParaRPr lang="ru-RU" sz="1700" kern="1200" dirty="0"/>
        </a:p>
      </dsp:txBody>
      <dsp:txXfrm>
        <a:off x="3090100" y="3804903"/>
        <a:ext cx="1425427" cy="892722"/>
      </dsp:txXfrm>
    </dsp:sp>
    <dsp:sp modelId="{8F6B4C9B-2A0D-459F-9262-13F92D3520DD}">
      <dsp:nvSpPr>
        <dsp:cNvPr id="0" name=""/>
        <dsp:cNvSpPr/>
      </dsp:nvSpPr>
      <dsp:spPr>
        <a:xfrm>
          <a:off x="666024" y="677414"/>
          <a:ext cx="3951150" cy="3951150"/>
        </a:xfrm>
        <a:custGeom>
          <a:avLst/>
          <a:gdLst/>
          <a:ahLst/>
          <a:cxnLst/>
          <a:rect l="0" t="0" r="0" b="0"/>
          <a:pathLst>
            <a:path>
              <a:moveTo>
                <a:pt x="2367940" y="3911795"/>
              </a:moveTo>
              <a:arcTo wR="1975575" hR="1975575" stAng="4712666" swAng="1374667"/>
            </a:path>
          </a:pathLst>
        </a:custGeom>
        <a:noFill/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9219C3-6B51-4056-9C01-422153B3F6DD}">
      <dsp:nvSpPr>
        <dsp:cNvPr id="0" name=""/>
        <dsp:cNvSpPr/>
      </dsp:nvSpPr>
      <dsp:spPr>
        <a:xfrm>
          <a:off x="719378" y="3756609"/>
          <a:ext cx="1522015" cy="989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Хранилище профиля пользователя</a:t>
          </a:r>
          <a:endParaRPr lang="ru-RU" sz="1700" kern="1200" dirty="0"/>
        </a:p>
      </dsp:txBody>
      <dsp:txXfrm>
        <a:off x="767672" y="3804903"/>
        <a:ext cx="1425427" cy="892722"/>
      </dsp:txXfrm>
    </dsp:sp>
    <dsp:sp modelId="{2413315A-1D33-431E-B965-0D3A6A1A3E4E}">
      <dsp:nvSpPr>
        <dsp:cNvPr id="0" name=""/>
        <dsp:cNvSpPr/>
      </dsp:nvSpPr>
      <dsp:spPr>
        <a:xfrm>
          <a:off x="666024" y="677414"/>
          <a:ext cx="3951150" cy="3951150"/>
        </a:xfrm>
        <a:custGeom>
          <a:avLst/>
          <a:gdLst/>
          <a:ahLst/>
          <a:cxnLst/>
          <a:rect l="0" t="0" r="0" b="0"/>
          <a:pathLst>
            <a:path>
              <a:moveTo>
                <a:pt x="329972" y="3068685"/>
              </a:moveTo>
              <a:arcTo wR="1975575" hR="1975575" stAng="8784326" swAng="2195350"/>
            </a:path>
          </a:pathLst>
        </a:custGeom>
        <a:noFill/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DBB904-A6D7-4A61-8D25-7CA6EEE4E1D6}">
      <dsp:nvSpPr>
        <dsp:cNvPr id="0" name=""/>
        <dsp:cNvSpPr/>
      </dsp:nvSpPr>
      <dsp:spPr>
        <a:xfrm>
          <a:off x="1708" y="1547848"/>
          <a:ext cx="1522015" cy="989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WordNet</a:t>
          </a:r>
          <a:endParaRPr lang="ru-RU" sz="1700" kern="1200" dirty="0"/>
        </a:p>
      </dsp:txBody>
      <dsp:txXfrm>
        <a:off x="50002" y="1596142"/>
        <a:ext cx="1425427" cy="892722"/>
      </dsp:txXfrm>
    </dsp:sp>
    <dsp:sp modelId="{C9D9481F-114B-44BF-8C02-74477EE748C2}">
      <dsp:nvSpPr>
        <dsp:cNvPr id="0" name=""/>
        <dsp:cNvSpPr/>
      </dsp:nvSpPr>
      <dsp:spPr>
        <a:xfrm>
          <a:off x="666024" y="677414"/>
          <a:ext cx="3951150" cy="3951150"/>
        </a:xfrm>
        <a:custGeom>
          <a:avLst/>
          <a:gdLst/>
          <a:ahLst/>
          <a:cxnLst/>
          <a:rect l="0" t="0" r="0" b="0"/>
          <a:pathLst>
            <a:path>
              <a:moveTo>
                <a:pt x="344393" y="861060"/>
              </a:moveTo>
              <a:arcTo wR="1975575" hR="1975575" stAng="12860585" swAng="1960298"/>
            </a:path>
          </a:pathLst>
        </a:custGeom>
        <a:noFill/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5BD93-34DF-4CE5-B5E6-EED6515A75CB}">
      <dsp:nvSpPr>
        <dsp:cNvPr id="0" name=""/>
        <dsp:cNvSpPr/>
      </dsp:nvSpPr>
      <dsp:spPr>
        <a:xfrm rot="5400000">
          <a:off x="-272331" y="273859"/>
          <a:ext cx="1815542" cy="127088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500" kern="1200" dirty="0"/>
        </a:p>
      </dsp:txBody>
      <dsp:txXfrm rot="-5400000">
        <a:off x="0" y="636968"/>
        <a:ext cx="1270880" cy="544662"/>
      </dsp:txXfrm>
    </dsp:sp>
    <dsp:sp modelId="{1449F04C-5BEE-4600-B88E-3C6AE5A3622D}">
      <dsp:nvSpPr>
        <dsp:cNvPr id="0" name=""/>
        <dsp:cNvSpPr/>
      </dsp:nvSpPr>
      <dsp:spPr>
        <a:xfrm rot="5400000">
          <a:off x="2788998" y="-1516590"/>
          <a:ext cx="1180102" cy="4216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800" kern="1200" dirty="0"/>
            <a:t>Тема для каждого слова.</a:t>
          </a:r>
        </a:p>
      </dsp:txBody>
      <dsp:txXfrm rot="-5400000">
        <a:off x="1270880" y="59136"/>
        <a:ext cx="4158731" cy="1064886"/>
      </dsp:txXfrm>
    </dsp:sp>
    <dsp:sp modelId="{8C37A35C-EBA5-4B08-9085-026F23970A81}">
      <dsp:nvSpPr>
        <dsp:cNvPr id="0" name=""/>
        <dsp:cNvSpPr/>
      </dsp:nvSpPr>
      <dsp:spPr>
        <a:xfrm rot="5400000">
          <a:off x="-272331" y="1897415"/>
          <a:ext cx="1815542" cy="127088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500" kern="1200" dirty="0"/>
        </a:p>
      </dsp:txBody>
      <dsp:txXfrm rot="-5400000">
        <a:off x="0" y="2260524"/>
        <a:ext cx="1270880" cy="544662"/>
      </dsp:txXfrm>
    </dsp:sp>
    <dsp:sp modelId="{5198CB9A-4A01-450C-8C0E-BDC2556BB160}">
      <dsp:nvSpPr>
        <dsp:cNvPr id="0" name=""/>
        <dsp:cNvSpPr/>
      </dsp:nvSpPr>
      <dsp:spPr>
        <a:xfrm rot="5400000">
          <a:off x="2788998" y="125434"/>
          <a:ext cx="1180102" cy="4216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800" b="0" i="0" kern="1200" dirty="0"/>
            <a:t>Главная тема (темы, если требуется).</a:t>
          </a:r>
          <a:endParaRPr lang="ru-RU" sz="1800" kern="1200" dirty="0"/>
        </a:p>
      </dsp:txBody>
      <dsp:txXfrm rot="-5400000">
        <a:off x="1270880" y="1701160"/>
        <a:ext cx="4158731" cy="1064886"/>
      </dsp:txXfrm>
    </dsp:sp>
    <dsp:sp modelId="{D4677252-8B7A-4E2F-A5F3-35EF4AE063E8}">
      <dsp:nvSpPr>
        <dsp:cNvPr id="0" name=""/>
        <dsp:cNvSpPr/>
      </dsp:nvSpPr>
      <dsp:spPr>
        <a:xfrm rot="5400000">
          <a:off x="-272331" y="3520971"/>
          <a:ext cx="1815542" cy="127088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500" kern="1200" dirty="0"/>
        </a:p>
      </dsp:txBody>
      <dsp:txXfrm rot="-5400000">
        <a:off x="0" y="3884080"/>
        <a:ext cx="1270880" cy="544662"/>
      </dsp:txXfrm>
    </dsp:sp>
    <dsp:sp modelId="{FE31E5E6-82C3-4A62-A380-EDA1649302CE}">
      <dsp:nvSpPr>
        <dsp:cNvPr id="0" name=""/>
        <dsp:cNvSpPr/>
      </dsp:nvSpPr>
      <dsp:spPr>
        <a:xfrm rot="5400000">
          <a:off x="2788998" y="1730521"/>
          <a:ext cx="1180102" cy="4216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800" b="0" i="0" kern="1200" dirty="0"/>
            <a:t>Похожие слова из профиля и синонимы.</a:t>
          </a:r>
          <a:endParaRPr lang="ru-RU" sz="1800" kern="1200" dirty="0"/>
        </a:p>
      </dsp:txBody>
      <dsp:txXfrm rot="-5400000">
        <a:off x="1270880" y="3306247"/>
        <a:ext cx="4158731" cy="1064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2915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Современный интернет столкнулся с проблемой информационной перегрузки. Традиционные поисковые системы, работающие по ключевым словам, часто выдают пользователю огромное количество результатов, многие из которых оказываются нерелевантными.</a:t>
            </a:r>
          </a:p>
          <a:p>
            <a:r>
              <a:rPr lang="ru-RU" dirty="0"/>
              <a:t>Это усугубляется проблемами словаря: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Полисемия — когда одно слово имеет несколько значений. Классический пример: «Jaguar» — это животное или автомобиль?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Синонимия — когда разные слова обозначают одно понятие. Например, поиск по слову «</a:t>
            </a:r>
            <a:r>
              <a:rPr lang="ru-RU" dirty="0" err="1"/>
              <a:t>car</a:t>
            </a:r>
            <a:r>
              <a:rPr lang="ru-RU" dirty="0"/>
              <a:t>» не найдет документы, где используется его синоним «</a:t>
            </a:r>
            <a:r>
              <a:rPr lang="ru-RU" dirty="0" err="1"/>
              <a:t>vehicle</a:t>
            </a:r>
            <a:r>
              <a:rPr lang="ru-RU" dirty="0"/>
              <a:t>».</a:t>
            </a:r>
          </a:p>
          <a:p>
            <a:r>
              <a:rPr lang="ru-RU" dirty="0"/>
              <a:t>В результате пользователь тратит много времени на ручной отбор нужной информации.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1968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нашей работы —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повышение релевантности результатов веб-поиска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счет их персонализации.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достижения этой цели мы решали следующие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Автоматическое построение и динамическое обновление профиля пользователя.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Семантическая оптимизация поисковых запросов.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Интеграция нашего решения с существующими поисковыми системами.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5549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Основу нашего подхода составляют два ключевых элемента: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Динамический профиль пользователя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lvl="0" indent="0">
              <a:buFont typeface="+mj-lt"/>
              <a:buNone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состоит из двух частей: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Статической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(имя, местоположение, базовые интересы).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Динамической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(история поиска, клики, поведение), которая постоянно обновляется на основе неявной обратной связи.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лексическая база данных для решения проблем полисемии и синонимии.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МногоАгентная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Система (MAS)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гибкая архитектура, которая включает специализированных агентов для каждой задачи.</a:t>
            </a:r>
          </a:p>
          <a:p>
            <a:pPr marL="0" lvl="0" indent="0">
              <a:buFont typeface="+mj-lt"/>
              <a:buNone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18226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архитектуру нашей системы, которая называется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Search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Personalizer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(WSP)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Она построена на трех агентах: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взаимодействует с пользователем: принимает запрос, отображает результаты и извлекает обратную связь через клики.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Profiler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отвечает за создание и постоянное обновление профиля пользователя.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-Search 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взаимодействует с внешними поисковыми системами, объединяет их результаты и возвращает единый ранжированный список.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агенты работают согласованно, обеспечивая весь цикл персонализированного поиска.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60126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Сердце нашей системы —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 семантической оптимизации запроса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пользователь вводит запрос, например, «Jaguar Speed», алгоритм выполняет следующие шаги: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 основную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запроса (например, «автомобили» или «животные»).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Обращается к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профилю пользователя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найти связанные с темой интересы и термины.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подбора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синонимов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словам из запроса.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Объединяет оригинальный запрос, тему, интересы из профиля и синонимы в новый,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оптимизированный запрос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65246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наглядный пример. Допустим, у нас есть два пользователя: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увлекается автомобилями.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Б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интересуется животными.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 вводят один и тот же запрос: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«Jaguar Speed»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система обработает его по-разному: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 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запрос будет оптимизирован до: Jaguar AND (Speed OR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Velocity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Car. Система сделала акцент на автомобильную тематику.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 Б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запрос превратится 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(Jaguar OR Cat) AND (Speed OR Velocity) AND Animal.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акцент смещен на мир животных, и даже добавлен синоним «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видно, один и тот же исходный запрос привел к принципиально разным поисковым задачам.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2847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провели эксперименты для оценки эффективности нашей системы. В качестве метрики использовалась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точность (Precision)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доля релевантных документов среди найденных.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Было проведено сравнение результатов поиска Google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применения нашей системы WSP.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показали значительный рост точности: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точность выросла с 82% до 94% для одного пользователя и с 12% до 94% для другого.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с 80% до 98% и с 8% до 90% соответственно.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доказывает, что наша система не только повышает релевантность, но и успешно решает проблемы полисемии и синонимии.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7628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образом, нам удалось: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Решить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проблему полисемии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счет учета предпочтений в профиле пользователя.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Решить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проблему синонимии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помощью онтологии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систему, которая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легко интегрируется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существующими поисковыми движками, значительно улучшая их показатели.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67062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заключение можно сделать следующие выводы: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предложили модель персонализации веб-поиска на основе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многогентной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системы.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Комбинация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динамического профиля пользователя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семантической онтологии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позволяет эффективно оптимизировать запросы.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Эксперименты подтвердили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повышение точности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поиска и решение словарных проблем.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Перспективы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дальнейшей работы видятся в использовании методов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машинного обучения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еще более точного и глубокого уточнения профиля пользователя.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2462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2.jpeg"/><Relationship Id="rId7" Type="http://schemas.openxmlformats.org/officeDocument/2006/relationships/slide" Target="slide6.xml"/><Relationship Id="rId12" Type="http://schemas.openxmlformats.org/officeDocument/2006/relationships/slide" Target="slide1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nezachto@gmail.com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6758" y="2825370"/>
            <a:ext cx="3831772" cy="132343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000" dirty="0" err="1">
                <a:solidFill>
                  <a:schemeClr val="bg1"/>
                </a:solidFill>
                <a:latin typeface="Elektra Text Pro" panose="02000503030000020004" pitchFamily="50" charset="-52"/>
              </a:rPr>
              <a:t>Агентный</a:t>
            </a:r>
            <a:r>
              <a:rPr lang="ru-RU" sz="2000" dirty="0">
                <a:solidFill>
                  <a:schemeClr val="bg1"/>
                </a:solidFill>
                <a:latin typeface="Elektra Text Pro" panose="02000503030000020004" pitchFamily="50" charset="-52"/>
              </a:rPr>
              <a:t> подход к персонализации веб-поиска с использованием динамического профиля пользователя.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9501" y="4897744"/>
            <a:ext cx="3846286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Студенты гр. 6112-100503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Швецов Егор Михайлович.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 2025</a:t>
            </a:r>
          </a:p>
        </p:txBody>
      </p:sp>
    </p:spTree>
    <p:extLst>
      <p:ext uri="{BB962C8B-B14F-4D97-AF65-F5344CB8AC3E}">
        <p14:creationId xmlns:p14="http://schemas.microsoft.com/office/powerpoint/2010/main" xmlns="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90305" y="1997839"/>
            <a:ext cx="84113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hlinkClick r:id="rId4" action="ppaction://hlinksldjump"/>
              </a:rPr>
              <a:t>Введение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>
                <a:hlinkClick r:id="rId5" action="ppaction://hlinksldjump"/>
              </a:rPr>
              <a:t>Постановка задачи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>
                <a:hlinkClick r:id="rId6" action="ppaction://hlinksldjump"/>
              </a:rPr>
              <a:t>Материалы и методы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>
                <a:hlinkClick r:id="rId7" action="ppaction://hlinksldjump"/>
              </a:rPr>
              <a:t>Архитектура системы </a:t>
            </a:r>
            <a:r>
              <a:rPr lang="en-US" dirty="0">
                <a:hlinkClick r:id="rId7" action="ppaction://hlinksldjump"/>
              </a:rPr>
              <a:t>WSP</a:t>
            </a:r>
            <a:endParaRPr lang="ru-R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hlinkClick r:id="rId8" action="ppaction://hlinksldjump"/>
              </a:rPr>
              <a:t>Алгоритм оптимизации запроса</a:t>
            </a:r>
            <a:endParaRPr lang="ru-R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hlinkClick r:id="rId9" action="ppaction://hlinksldjump"/>
              </a:rPr>
              <a:t>Пример работы алгоритма</a:t>
            </a:r>
            <a:endParaRPr lang="en-US" dirty="0"/>
          </a:p>
          <a:p>
            <a:pPr marL="342900" indent="-342900">
              <a:buAutoNum type="arabicPeriod"/>
            </a:pPr>
            <a:r>
              <a:rPr lang="ru-RU" dirty="0">
                <a:hlinkClick r:id="rId10" action="ppaction://hlinksldjump"/>
              </a:rPr>
              <a:t>Эксперименты и результаты</a:t>
            </a:r>
            <a:endParaRPr lang="ru-R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hlinkClick r:id="rId10" action="ppaction://hlinksldjump"/>
              </a:rPr>
              <a:t>Визуализация результатов</a:t>
            </a:r>
            <a:endParaRPr lang="ru-R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hlinkClick r:id="rId11" action="ppaction://hlinksldjump"/>
              </a:rPr>
              <a:t>Обсуждение результатов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>
                <a:hlinkClick r:id="rId12" action="ppaction://hlinksldjump"/>
              </a:rPr>
              <a:t>Заключение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СОДЕРЖАНИЕ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60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90305" y="1120676"/>
            <a:ext cx="84113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Современный интернет столкнулся с проблемой информационной перегрузки. Традиционные поисковые системы выдают много нерелевантных результатов.</a:t>
            </a:r>
          </a:p>
          <a:p>
            <a:pPr>
              <a:lnSpc>
                <a:spcPct val="200000"/>
              </a:lnSpc>
            </a:pPr>
            <a:r>
              <a:rPr lang="ru-RU" dirty="0"/>
              <a:t>Проблема: </a:t>
            </a:r>
          </a:p>
          <a:p>
            <a:pPr marL="342900" indent="-342900">
              <a:buAutoNum type="arabicPeriod"/>
            </a:pPr>
            <a:r>
              <a:rPr lang="ru-RU" dirty="0"/>
              <a:t>Информационная перегрузка в веб-поиске.</a:t>
            </a:r>
          </a:p>
          <a:p>
            <a:pPr marL="342900" indent="-342900">
              <a:buAutoNum type="arabicPeriod"/>
            </a:pPr>
            <a:r>
              <a:rPr lang="ru-RU" dirty="0"/>
              <a:t>Синтаксические поисковые системы не учитывают: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Полисемию (например, «</a:t>
            </a:r>
            <a:r>
              <a:rPr lang="en-US" dirty="0"/>
              <a:t>Jaguar</a:t>
            </a:r>
            <a:r>
              <a:rPr lang="ru-RU" dirty="0"/>
              <a:t>» - животное или автомобиль?).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Синонимию (например, «</a:t>
            </a:r>
            <a:r>
              <a:rPr lang="en-US" dirty="0"/>
              <a:t>car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или «</a:t>
            </a:r>
            <a:r>
              <a:rPr lang="en-US" dirty="0"/>
              <a:t>vehicle</a:t>
            </a:r>
            <a:r>
              <a:rPr lang="ru-RU" dirty="0"/>
              <a:t>»).</a:t>
            </a:r>
          </a:p>
          <a:p>
            <a:pPr>
              <a:lnSpc>
                <a:spcPct val="200000"/>
              </a:lnSpc>
            </a:pPr>
            <a:r>
              <a:rPr lang="ru-RU" dirty="0"/>
              <a:t>Решение:</a:t>
            </a:r>
          </a:p>
          <a:p>
            <a:pPr lvl="1"/>
            <a:r>
              <a:rPr lang="ru-RU" dirty="0"/>
              <a:t>Персонализация поиска в интернете</a:t>
            </a:r>
            <a:r>
              <a:rPr lang="en-US" dirty="0"/>
              <a:t> (WSP)</a:t>
            </a:r>
            <a:r>
              <a:rPr lang="ru-RU" dirty="0"/>
              <a:t> на основе динамического профиля пользователя.</a:t>
            </a:r>
          </a:p>
        </p:txBody>
      </p:sp>
      <p:sp>
        <p:nvSpPr>
          <p:cNvPr id="2" name="Равнобедренный треугольник 1">
            <a:hlinkClick r:id="rId4" action="ppaction://hlinksldjump"/>
            <a:extLst>
              <a:ext uri="{FF2B5EF4-FFF2-40B4-BE49-F238E27FC236}">
                <a16:creationId xmlns:a16="http://schemas.microsoft.com/office/drawing/2014/main" xmlns="" id="{681C2335-B0B6-0349-772D-DC8BF0E703B6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7865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1F6DF07-895C-58E2-DE4E-848161D6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7C18B12-63AE-166A-82E4-912200AF4D5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ПОСТАНОВКА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F6B7B88-DE58-E1C6-A986-4E3C56EAE3B9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4CEAB4F-3133-15BC-4F3B-A329E3683436}"/>
              </a:ext>
            </a:extLst>
          </p:cNvPr>
          <p:cNvSpPr txBox="1"/>
          <p:nvPr/>
        </p:nvSpPr>
        <p:spPr>
          <a:xfrm>
            <a:off x="1890305" y="1674674"/>
            <a:ext cx="84113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Цель:</a:t>
            </a:r>
          </a:p>
          <a:p>
            <a:pPr lvl="1"/>
            <a:r>
              <a:rPr lang="ru-RU" dirty="0"/>
              <a:t>Повышение релевантности результатов поиска.</a:t>
            </a:r>
          </a:p>
          <a:p>
            <a:pPr>
              <a:lnSpc>
                <a:spcPct val="300000"/>
              </a:lnSpc>
            </a:pPr>
            <a:r>
              <a:rPr lang="ru-RU" dirty="0"/>
              <a:t>Задачи:</a:t>
            </a:r>
          </a:p>
          <a:p>
            <a:pPr marL="342900" indent="-342900">
              <a:buAutoNum type="arabicPeriod"/>
            </a:pPr>
            <a:r>
              <a:rPr lang="ru-RU" dirty="0"/>
              <a:t>Автоматическое построение и обновление профиля пользователя.</a:t>
            </a:r>
          </a:p>
          <a:p>
            <a:pPr marL="342900" indent="-342900">
              <a:buAutoNum type="arabicPeriod"/>
            </a:pPr>
            <a:r>
              <a:rPr lang="ru-RU" dirty="0"/>
              <a:t>Семантическая оптимизация запросов.</a:t>
            </a:r>
          </a:p>
          <a:p>
            <a:pPr marL="342900" indent="-342900">
              <a:buAutoNum type="arabicPeriod"/>
            </a:pPr>
            <a:r>
              <a:rPr lang="ru-RU" dirty="0"/>
              <a:t>Интеграция с существующими поисковыми системами.</a:t>
            </a:r>
          </a:p>
        </p:txBody>
      </p:sp>
      <p:sp>
        <p:nvSpPr>
          <p:cNvPr id="6" name="Равнобедренный треугольник 5">
            <a:hlinkClick r:id="rId4" action="ppaction://hlinksldjump"/>
            <a:extLst>
              <a:ext uri="{FF2B5EF4-FFF2-40B4-BE49-F238E27FC236}">
                <a16:creationId xmlns:a16="http://schemas.microsoft.com/office/drawing/2014/main" xmlns="" id="{2FF60740-1DC4-56FA-048D-4609D6A17B56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9883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44E404F-2711-F486-2211-8FAFD8E2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xmlns="" id="{1E7A928F-0449-086A-B31F-8ADD8963BF6A}"/>
              </a:ext>
            </a:extLst>
          </p:cNvPr>
          <p:cNvSpPr/>
          <p:nvPr/>
        </p:nvSpPr>
        <p:spPr>
          <a:xfrm>
            <a:off x="2710405" y="1001416"/>
            <a:ext cx="6771190" cy="1155468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xmlns="" id="{E366ABC5-EABC-6096-79CF-9825B79369A7}"/>
              </a:ext>
            </a:extLst>
          </p:cNvPr>
          <p:cNvSpPr/>
          <p:nvPr/>
        </p:nvSpPr>
        <p:spPr>
          <a:xfrm>
            <a:off x="671332" y="2372810"/>
            <a:ext cx="4872941" cy="3310359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E3B77AF-3E3B-67AB-52CD-6FFD8064CAC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МАТЕРИАЛЫ И МЕТОДЫ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047BC16-AA7B-4ACF-2558-BBAA801A4502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5902498-C9CE-04D6-9A89-147B6EAD37F3}"/>
              </a:ext>
            </a:extLst>
          </p:cNvPr>
          <p:cNvSpPr txBox="1"/>
          <p:nvPr/>
        </p:nvSpPr>
        <p:spPr>
          <a:xfrm>
            <a:off x="1080077" y="2622077"/>
            <a:ext cx="40359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Динамический профиль пользователя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ru-RU" b="1" dirty="0">
                <a:solidFill>
                  <a:schemeClr val="bg1"/>
                </a:solidFill>
              </a:rPr>
              <a:t>Статическая часть: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Имя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Местоположение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Интересы</a:t>
            </a:r>
          </a:p>
          <a:p>
            <a:pPr marL="342900" indent="-342900">
              <a:buAutoNum type="arabicPeriod"/>
            </a:pPr>
            <a:r>
              <a:rPr lang="ru-RU" b="1" dirty="0">
                <a:solidFill>
                  <a:schemeClr val="bg1"/>
                </a:solidFill>
              </a:rPr>
              <a:t>Динамическая часть: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История поиска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Клики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Поведение</a:t>
            </a:r>
          </a:p>
        </p:txBody>
      </p:sp>
      <p:sp>
        <p:nvSpPr>
          <p:cNvPr id="2" name="Равнобедренный треугольник 1">
            <a:hlinkClick r:id="rId4" action="ppaction://hlinksldjump"/>
            <a:extLst>
              <a:ext uri="{FF2B5EF4-FFF2-40B4-BE49-F238E27FC236}">
                <a16:creationId xmlns:a16="http://schemas.microsoft.com/office/drawing/2014/main" xmlns="" id="{3F3C1D49-CC6D-E3C9-9D58-FBAAE4182571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EFC5816-699B-5208-7C31-7109127A17FD}"/>
              </a:ext>
            </a:extLst>
          </p:cNvPr>
          <p:cNvSpPr txBox="1"/>
          <p:nvPr/>
        </p:nvSpPr>
        <p:spPr>
          <a:xfrm>
            <a:off x="3098043" y="1118928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Материалы </a:t>
            </a:r>
            <a:r>
              <a:rPr lang="ru-RU" dirty="0">
                <a:solidFill>
                  <a:schemeClr val="bg1"/>
                </a:solidFill>
              </a:rPr>
              <a:t>– информация о поведении пользователя в интернете. </a:t>
            </a:r>
          </a:p>
          <a:p>
            <a:r>
              <a:rPr lang="ru-RU" b="1" dirty="0">
                <a:solidFill>
                  <a:schemeClr val="bg1"/>
                </a:solidFill>
              </a:rPr>
              <a:t>Методы </a:t>
            </a:r>
            <a:r>
              <a:rPr lang="ru-RU" dirty="0">
                <a:solidFill>
                  <a:schemeClr val="bg1"/>
                </a:solidFill>
              </a:rPr>
              <a:t>– динамическое профилирование.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xmlns="" id="{C94A44E8-7298-519F-FCCE-B43CF409DD48}"/>
              </a:ext>
            </a:extLst>
          </p:cNvPr>
          <p:cNvSpPr/>
          <p:nvPr/>
        </p:nvSpPr>
        <p:spPr>
          <a:xfrm>
            <a:off x="6433947" y="2372810"/>
            <a:ext cx="4872941" cy="3310359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Инструменты</a:t>
            </a:r>
            <a:endParaRPr lang="en-US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b="1" dirty="0"/>
              <a:t>WordNet: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Решение проблем с полисемией и синонимами</a:t>
            </a:r>
          </a:p>
          <a:p>
            <a:pPr marL="342900" indent="-342900">
              <a:buAutoNum type="arabicPeriod"/>
            </a:pPr>
            <a:r>
              <a:rPr lang="ru-RU" b="1" dirty="0" err="1"/>
              <a:t>Многоагентная</a:t>
            </a:r>
            <a:r>
              <a:rPr lang="ru-RU" b="1" dirty="0"/>
              <a:t> система (</a:t>
            </a:r>
            <a:r>
              <a:rPr lang="en-US" b="1" dirty="0"/>
              <a:t>MAS</a:t>
            </a:r>
            <a:r>
              <a:rPr lang="ru-RU" b="1" dirty="0"/>
              <a:t>)</a:t>
            </a:r>
            <a:r>
              <a:rPr lang="en-US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Interface 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User Profiler 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Meta-Search 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0601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A32A8F4-6212-2E91-C7E0-F5DF2BA7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81C280-2600-6389-1E71-B8E4A1620705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АРХИТЕКТУРА СИСТЕМЫ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WSP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B1DAC4E-C00D-48FD-FA53-EE85B03B616F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xmlns="" id="{A66D05AD-EF8C-6D03-A913-389558060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8010802"/>
              </p:ext>
            </p:extLst>
          </p:nvPr>
        </p:nvGraphicFramePr>
        <p:xfrm>
          <a:off x="3454400" y="932016"/>
          <a:ext cx="5283200" cy="499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Равнобедренный треугольник 4">
            <a:hlinkClick r:id="rId8" action="ppaction://hlinksldjump"/>
            <a:extLst>
              <a:ext uri="{FF2B5EF4-FFF2-40B4-BE49-F238E27FC236}">
                <a16:creationId xmlns:a16="http://schemas.microsoft.com/office/drawing/2014/main" xmlns="" id="{BF4DD67A-F4BF-50FB-A1B7-45995019249D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7664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03D162B-E336-AA6A-067C-54B9A1472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C6CE7A-4404-778C-78EB-F152A359D11F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АЛГОРИТМ ОПТИМИЗАЦИИ ЗАПРОСА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9B5FF1F-6BAA-AB6E-30D9-BE8394424F6B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 smtClean="0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xmlns="" id="{80DA5387-1930-5530-96F4-979DD4294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73100026"/>
              </p:ext>
            </p:extLst>
          </p:nvPr>
        </p:nvGraphicFramePr>
        <p:xfrm>
          <a:off x="3352390" y="896144"/>
          <a:ext cx="5487220" cy="5065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Равнобедренный треугольник 4">
            <a:hlinkClick r:id="rId8" action="ppaction://hlinksldjump"/>
            <a:extLst>
              <a:ext uri="{FF2B5EF4-FFF2-40B4-BE49-F238E27FC236}">
                <a16:creationId xmlns:a16="http://schemas.microsoft.com/office/drawing/2014/main" xmlns="" id="{622DDE30-AFD8-8E77-DBB3-FC931FCF5F58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1481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185DF1A-921F-EBE3-1C1D-F0C132A5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58DCA3D-CC68-781D-F66A-1A2AC352DF36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РАБОТЫ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AE693B-CE35-D4A7-3D4D-7D572847F965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1026" name="Picture 2" descr="Ягуар — Википедия">
            <a:extLst>
              <a:ext uri="{FF2B5EF4-FFF2-40B4-BE49-F238E27FC236}">
                <a16:creationId xmlns:a16="http://schemas.microsoft.com/office/drawing/2014/main" xmlns="" id="{87DC5024-4507-3299-7EFA-C49A190D3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6983" y="1583266"/>
            <a:ext cx="2768600" cy="184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одельный ряд Ягуар 2022, комплектации и цены на модели Jaguar,  характеристики автомобилей">
            <a:extLst>
              <a:ext uri="{FF2B5EF4-FFF2-40B4-BE49-F238E27FC236}">
                <a16:creationId xmlns:a16="http://schemas.microsoft.com/office/drawing/2014/main" xmlns="" id="{E66789B1-3130-5C94-0710-FCDFBF9BB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6983" y="3428999"/>
            <a:ext cx="2768599" cy="198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Равнобедренный треугольник 1">
            <a:hlinkClick r:id="rId6" action="ppaction://hlinksldjump"/>
            <a:extLst>
              <a:ext uri="{FF2B5EF4-FFF2-40B4-BE49-F238E27FC236}">
                <a16:creationId xmlns:a16="http://schemas.microsoft.com/office/drawing/2014/main" xmlns="" id="{67359ADF-0D98-B372-7406-3AE7219E7EA6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98734152-47AE-195A-95F2-4E15F0CE24A0}"/>
              </a:ext>
            </a:extLst>
          </p:cNvPr>
          <p:cNvSpPr/>
          <p:nvPr/>
        </p:nvSpPr>
        <p:spPr>
          <a:xfrm>
            <a:off x="316153" y="2336676"/>
            <a:ext cx="2866886" cy="881914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 А:</a:t>
            </a:r>
          </a:p>
          <a:p>
            <a:pPr algn="ctr"/>
            <a:r>
              <a:rPr lang="ru-RU" dirty="0"/>
              <a:t>Интересы: автомобили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xmlns="" id="{554B62AD-36D2-28FA-F888-0C2678990127}"/>
              </a:ext>
            </a:extLst>
          </p:cNvPr>
          <p:cNvSpPr/>
          <p:nvPr/>
        </p:nvSpPr>
        <p:spPr>
          <a:xfrm>
            <a:off x="5207131" y="2336677"/>
            <a:ext cx="2858384" cy="881913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 Б:</a:t>
            </a:r>
          </a:p>
          <a:p>
            <a:pPr algn="ctr"/>
            <a:r>
              <a:rPr lang="ru-RU" dirty="0"/>
              <a:t>Интересы: животные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xmlns="" id="{9E23B5A5-E679-B3CA-29F0-F57C2E0ADCB0}"/>
              </a:ext>
            </a:extLst>
          </p:cNvPr>
          <p:cNvSpPr/>
          <p:nvPr/>
        </p:nvSpPr>
        <p:spPr>
          <a:xfrm>
            <a:off x="2534857" y="3515744"/>
            <a:ext cx="3375114" cy="608167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Запрос: «</a:t>
            </a:r>
            <a:r>
              <a:rPr lang="en-US"/>
              <a:t>Jaguar Speed»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xmlns="" id="{3E925402-5B43-466D-5495-F171FFCBCB79}"/>
              </a:ext>
            </a:extLst>
          </p:cNvPr>
          <p:cNvSpPr/>
          <p:nvPr/>
        </p:nvSpPr>
        <p:spPr>
          <a:xfrm>
            <a:off x="316153" y="4420600"/>
            <a:ext cx="3717708" cy="1314092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Пользователь</a:t>
            </a:r>
            <a:r>
              <a:rPr lang="en-US" dirty="0"/>
              <a:t> А:</a:t>
            </a:r>
          </a:p>
          <a:p>
            <a:pPr algn="ctr"/>
            <a:r>
              <a:rPr lang="en-US" dirty="0"/>
              <a:t>Jaguar AND (Speed OR Velocity) AND Car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xmlns="" id="{AEFEFDE9-065A-F0DF-A164-641C0E42F01A}"/>
              </a:ext>
            </a:extLst>
          </p:cNvPr>
          <p:cNvSpPr/>
          <p:nvPr/>
        </p:nvSpPr>
        <p:spPr>
          <a:xfrm>
            <a:off x="4443940" y="4421065"/>
            <a:ext cx="3713435" cy="1314091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Пользователь</a:t>
            </a:r>
            <a:r>
              <a:rPr lang="en-US" dirty="0"/>
              <a:t> Б:</a:t>
            </a:r>
          </a:p>
          <a:p>
            <a:pPr algn="ctr"/>
            <a:r>
              <a:rPr lang="en-US" dirty="0"/>
              <a:t>(Jaguar OR Cat) AND (Speed OR Velocity) AND Animal</a:t>
            </a:r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xmlns="" id="{E0374C21-187F-84B2-9C5D-58F67140FA9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83039" y="2777633"/>
            <a:ext cx="474597" cy="737646"/>
          </a:xfrm>
          <a:prstGeom prst="bentConnector2">
            <a:avLst/>
          </a:prstGeom>
          <a:ln w="57150" cap="flat" cmpd="sng" algn="ctr">
            <a:solidFill>
              <a:srgbClr val="2192C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xmlns="" id="{92BB858F-9600-F12F-97F0-9433FD420C0A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4732535" y="2777633"/>
            <a:ext cx="474597" cy="737645"/>
          </a:xfrm>
          <a:prstGeom prst="bentConnector2">
            <a:avLst/>
          </a:prstGeom>
          <a:ln w="57150" cap="flat" cmpd="sng" algn="ctr">
            <a:solidFill>
              <a:srgbClr val="2192C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xmlns="" id="{9BC1B4B6-6FDF-D670-2430-B71C2FEFC0B3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rot="10800000" flipV="1">
            <a:off x="2175007" y="3819828"/>
            <a:ext cx="359850" cy="600772"/>
          </a:xfrm>
          <a:prstGeom prst="bentConnector2">
            <a:avLst/>
          </a:prstGeom>
          <a:ln w="57150" cap="flat" cmpd="sng" algn="ctr">
            <a:solidFill>
              <a:srgbClr val="2192C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xmlns="" id="{C5B8FF08-56F1-D0C2-EDB2-E9C9BFAACBC8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5909971" y="3819828"/>
            <a:ext cx="390687" cy="601237"/>
          </a:xfrm>
          <a:prstGeom prst="bentConnector2">
            <a:avLst/>
          </a:prstGeom>
          <a:ln w="57150" cap="flat" cmpd="sng" algn="ctr">
            <a:solidFill>
              <a:srgbClr val="2192C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xmlns="" id="{B1E461F0-FEEE-8DDA-4CBB-EFB25BBBEACE}"/>
              </a:ext>
            </a:extLst>
          </p:cNvPr>
          <p:cNvSpPr/>
          <p:nvPr/>
        </p:nvSpPr>
        <p:spPr>
          <a:xfrm>
            <a:off x="2534857" y="1159457"/>
            <a:ext cx="3375114" cy="608167"/>
          </a:xfrm>
          <a:prstGeom prst="roundRect">
            <a:avLst/>
          </a:prstGeom>
          <a:solidFill>
            <a:srgbClr val="2192C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Профиль</a:t>
            </a:r>
            <a:endParaRPr lang="en-US" dirty="0"/>
          </a:p>
        </p:txBody>
      </p: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xmlns="" id="{BFE69F78-4416-1857-ADF4-92CE07FCEE99}"/>
              </a:ext>
            </a:extLst>
          </p:cNvPr>
          <p:cNvCxnSpPr>
            <a:cxnSpLocks/>
            <a:stCxn id="35" idx="1"/>
            <a:endCxn id="6" idx="0"/>
          </p:cNvCxnSpPr>
          <p:nvPr/>
        </p:nvCxnSpPr>
        <p:spPr>
          <a:xfrm rot="10800000" flipV="1">
            <a:off x="1749597" y="1463540"/>
            <a:ext cx="785261" cy="873135"/>
          </a:xfrm>
          <a:prstGeom prst="bentConnector2">
            <a:avLst/>
          </a:prstGeom>
          <a:ln w="57150" cap="flat" cmpd="sng" algn="ctr">
            <a:solidFill>
              <a:srgbClr val="2192C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Соединитель: уступ 38">
            <a:extLst>
              <a:ext uri="{FF2B5EF4-FFF2-40B4-BE49-F238E27FC236}">
                <a16:creationId xmlns:a16="http://schemas.microsoft.com/office/drawing/2014/main" xmlns="" id="{F1879B39-01AF-C30B-265E-E620FC1F49A2}"/>
              </a:ext>
            </a:extLst>
          </p:cNvPr>
          <p:cNvCxnSpPr>
            <a:cxnSpLocks/>
            <a:stCxn id="35" idx="3"/>
            <a:endCxn id="7" idx="0"/>
          </p:cNvCxnSpPr>
          <p:nvPr/>
        </p:nvCxnSpPr>
        <p:spPr>
          <a:xfrm>
            <a:off x="5909971" y="1463541"/>
            <a:ext cx="726352" cy="873136"/>
          </a:xfrm>
          <a:prstGeom prst="bentConnector2">
            <a:avLst/>
          </a:prstGeom>
          <a:ln w="57150" cap="flat" cmpd="sng" algn="ctr">
            <a:solidFill>
              <a:srgbClr val="2192C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1742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45E3164-1D08-A1CC-44BC-B2E449D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831D687-F4DF-2A1B-3220-454EF28FA3E7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СРАВНЕНИЕ И ВИЗУАЛИЗАЦИЯ РЕЗУЛЬТАТОВ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430907A-C321-F925-C7BA-75304BD877D5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FE58CD07-A111-A4C3-FB67-942EF84CE7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439"/>
          <a:stretch>
            <a:fillRect/>
          </a:stretch>
        </p:blipFill>
        <p:spPr>
          <a:xfrm>
            <a:off x="2718947" y="3068224"/>
            <a:ext cx="7163421" cy="3170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B94A634-A16F-B588-7471-7BD6823D5BC7}"/>
              </a:ext>
            </a:extLst>
          </p:cNvPr>
          <p:cNvSpPr txBox="1"/>
          <p:nvPr/>
        </p:nvSpPr>
        <p:spPr>
          <a:xfrm>
            <a:off x="3252658" y="113088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Сравнение </a:t>
            </a:r>
            <a:r>
              <a:rPr lang="en-US" dirty="0"/>
              <a:t>Google </a:t>
            </a:r>
            <a:r>
              <a:rPr lang="ru-RU" dirty="0"/>
              <a:t>и </a:t>
            </a:r>
            <a:r>
              <a:rPr lang="en-US" dirty="0"/>
              <a:t>Bing </a:t>
            </a:r>
            <a:r>
              <a:rPr lang="ru-RU" dirty="0"/>
              <a:t>до и после оптимизации </a:t>
            </a:r>
            <a:r>
              <a:rPr lang="en-US" dirty="0"/>
              <a:t>WSP:</a:t>
            </a:r>
          </a:p>
          <a:p>
            <a:pPr marL="342900" indent="-342900">
              <a:buAutoNum type="arabicPeriod"/>
            </a:pPr>
            <a:r>
              <a:rPr lang="ru-RU" dirty="0"/>
              <a:t>Метрика точности: точность </a:t>
            </a:r>
            <a:r>
              <a:rPr lang="en-US" dirty="0"/>
              <a:t>(precision)</a:t>
            </a:r>
            <a:r>
              <a:rPr lang="ru-RU" dirty="0"/>
              <a:t>.</a:t>
            </a:r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Результат: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Google: </a:t>
            </a:r>
            <a:r>
              <a:rPr lang="ru-RU" dirty="0"/>
              <a:t>от </a:t>
            </a:r>
            <a:r>
              <a:rPr lang="en-US" dirty="0"/>
              <a:t>82% </a:t>
            </a:r>
            <a:r>
              <a:rPr lang="ru-RU" dirty="0"/>
              <a:t>до </a:t>
            </a:r>
            <a:r>
              <a:rPr lang="en-US" dirty="0"/>
              <a:t>94%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Bing: </a:t>
            </a:r>
            <a:r>
              <a:rPr lang="ru-RU" dirty="0"/>
              <a:t>от </a:t>
            </a:r>
            <a:r>
              <a:rPr lang="en-US" dirty="0"/>
              <a:t>80% </a:t>
            </a:r>
            <a:r>
              <a:rPr lang="ru-RU" dirty="0"/>
              <a:t>до </a:t>
            </a:r>
            <a:r>
              <a:rPr lang="en-US" dirty="0"/>
              <a:t>98%</a:t>
            </a:r>
            <a:endParaRPr lang="ru-RU" dirty="0"/>
          </a:p>
        </p:txBody>
      </p:sp>
      <p:sp>
        <p:nvSpPr>
          <p:cNvPr id="5" name="Равнобедренный треугольник 4">
            <a:hlinkClick r:id="rId5" action="ppaction://hlinksldjump"/>
            <a:extLst>
              <a:ext uri="{FF2B5EF4-FFF2-40B4-BE49-F238E27FC236}">
                <a16:creationId xmlns:a16="http://schemas.microsoft.com/office/drawing/2014/main" xmlns="" id="{26F78D69-7E3B-D032-61EF-4FB0C55679BE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2601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BF25C5C-196C-97D4-FBAC-79B5A803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BE9165B-0551-BD7E-C103-0C2CE927450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ОБСУЖДЕНИЕ РЕЗУЛЬТАТОВ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929052F-C255-00DE-40DD-E11E618A54A9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49B241F-FC00-06DB-7E95-4C5FAF1EEA25}"/>
              </a:ext>
            </a:extLst>
          </p:cNvPr>
          <p:cNvSpPr txBox="1"/>
          <p:nvPr/>
        </p:nvSpPr>
        <p:spPr>
          <a:xfrm>
            <a:off x="2094963" y="1951672"/>
            <a:ext cx="84113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WSP </a:t>
            </a:r>
            <a:r>
              <a:rPr lang="ru-RU" dirty="0"/>
              <a:t>улучшает точность поиска на 10-20%.</a:t>
            </a:r>
          </a:p>
          <a:p>
            <a:pPr marL="342900" indent="-342900">
              <a:buAutoNum type="arabicPeriod"/>
            </a:pPr>
            <a:r>
              <a:rPr lang="ru-RU" dirty="0"/>
              <a:t>Решены проблемы: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Полисемия</a:t>
            </a:r>
            <a:r>
              <a:rPr lang="en-US" dirty="0"/>
              <a:t> -&gt; </a:t>
            </a:r>
            <a:r>
              <a:rPr lang="ru-RU" dirty="0"/>
              <a:t>через профиль пользователя.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Синонимия -</a:t>
            </a:r>
            <a:r>
              <a:rPr lang="en-US" dirty="0"/>
              <a:t>&gt;</a:t>
            </a:r>
            <a:r>
              <a:rPr lang="ru-RU" dirty="0"/>
              <a:t> через </a:t>
            </a:r>
            <a:r>
              <a:rPr lang="en-US" dirty="0"/>
              <a:t>WordNet</a:t>
            </a:r>
            <a:r>
              <a:rPr lang="ru-RU" dirty="0"/>
              <a:t>.</a:t>
            </a:r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Система легко интегрируется с существующими поисковыми системами.</a:t>
            </a:r>
            <a:endParaRPr lang="en-US" dirty="0"/>
          </a:p>
        </p:txBody>
      </p:sp>
      <p:sp>
        <p:nvSpPr>
          <p:cNvPr id="2" name="Равнобедренный треугольник 1">
            <a:hlinkClick r:id="rId4" action="ppaction://hlinksldjump"/>
            <a:extLst>
              <a:ext uri="{FF2B5EF4-FFF2-40B4-BE49-F238E27FC236}">
                <a16:creationId xmlns:a16="http://schemas.microsoft.com/office/drawing/2014/main" xmlns="" id="{61C40A93-A0BE-1D8C-144B-AD22EC8F884B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07306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DCD52E0-AA36-BA29-2B52-A511F846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43F6A3B-702D-D7C8-A5C3-BA5A6BA3C7B3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D227F3A-8E53-BF49-E556-544C6DBEC2B1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pPr algn="ctr"/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1A8CB21-3D97-6993-882D-7C2F155C0AEF}"/>
              </a:ext>
            </a:extLst>
          </p:cNvPr>
          <p:cNvSpPr txBox="1"/>
          <p:nvPr/>
        </p:nvSpPr>
        <p:spPr>
          <a:xfrm>
            <a:off x="1890305" y="2228671"/>
            <a:ext cx="8411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AutoNum type="arabicPeriod"/>
            </a:pPr>
            <a:r>
              <a:rPr lang="ru-RU" dirty="0"/>
              <a:t>Предложена модель персонализации веб-поиска на основе MAS.</a:t>
            </a:r>
          </a:p>
          <a:p>
            <a:pPr indent="-342900">
              <a:buFont typeface="Arial" panose="020B0604020202020204" pitchFamily="34" charset="0"/>
              <a:buAutoNum type="arabicPeriod"/>
            </a:pPr>
            <a:r>
              <a:rPr lang="ru-RU" dirty="0"/>
              <a:t>Динамический профиль пользователя + </a:t>
            </a:r>
            <a:r>
              <a:rPr lang="ru-RU" dirty="0" err="1"/>
              <a:t>WordNet</a:t>
            </a:r>
            <a:r>
              <a:rPr lang="ru-RU" dirty="0"/>
              <a:t> = семантическая оптимизация.</a:t>
            </a:r>
          </a:p>
          <a:p>
            <a:pPr indent="-342900">
              <a:buFont typeface="Arial" panose="020B0604020202020204" pitchFamily="34" charset="0"/>
              <a:buAutoNum type="arabicPeriod"/>
            </a:pPr>
            <a:r>
              <a:rPr lang="ru-RU" dirty="0"/>
              <a:t>Результаты: повышение точности, решение проблем словаря.</a:t>
            </a:r>
          </a:p>
          <a:p>
            <a:pPr indent="-342900">
              <a:buFont typeface="Arial" panose="020B0604020202020204" pitchFamily="34" charset="0"/>
              <a:buAutoNum type="arabicPeriod"/>
            </a:pPr>
            <a:r>
              <a:rPr lang="ru-RU" dirty="0"/>
              <a:t>Перспективы: использование машинного обучения для уточнения профиля.</a:t>
            </a:r>
          </a:p>
        </p:txBody>
      </p:sp>
      <p:sp>
        <p:nvSpPr>
          <p:cNvPr id="2" name="Равнобедренный треугольник 1">
            <a:hlinkClick r:id="rId4" action="ppaction://hlinksldjump"/>
            <a:extLst>
              <a:ext uri="{FF2B5EF4-FFF2-40B4-BE49-F238E27FC236}">
                <a16:creationId xmlns:a16="http://schemas.microsoft.com/office/drawing/2014/main" xmlns="" id="{C52DF79A-2BA8-B5C9-058A-D67459311AE6}"/>
              </a:ext>
            </a:extLst>
          </p:cNvPr>
          <p:cNvSpPr/>
          <p:nvPr/>
        </p:nvSpPr>
        <p:spPr>
          <a:xfrm rot="16200000">
            <a:off x="11302347" y="301532"/>
            <a:ext cx="469107" cy="369332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86565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331" y="2335100"/>
            <a:ext cx="3831772" cy="31700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БЛАГОДАРИЮ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</a:t>
            </a:r>
          </a:p>
          <a:p>
            <a:pPr algn="ctr"/>
            <a:endParaRPr lang="ru-RU" sz="2400" b="1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endParaRPr lang="ru-RU" sz="2400" b="1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endParaRPr lang="ru-RU" sz="2400" b="1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r>
              <a:rPr lang="ru-RU" sz="2400" dirty="0">
                <a:solidFill>
                  <a:schemeClr val="bg1"/>
                </a:solidFill>
                <a:latin typeface="Elektra Text Pro" panose="02000503030000020004" pitchFamily="50" charset="-52"/>
              </a:rPr>
              <a:t>Личные контакты автора: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Elektra Text Pro" panose="02000503030000020004" pitchFamily="50" charset="-52"/>
              </a:rPr>
              <a:t>email: </a:t>
            </a:r>
            <a:r>
              <a:rPr lang="en-US" sz="2400" dirty="0">
                <a:solidFill>
                  <a:schemeClr val="bg1"/>
                </a:solidFill>
                <a:latin typeface="Elektra Text Pro" panose="02000503030000020004" pitchFamily="50" charset="-52"/>
                <a:hlinkClick r:id="rId3"/>
              </a:rPr>
              <a:t>nezachto@gmail.com</a:t>
            </a:r>
            <a:endParaRPr lang="en-US" sz="2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r>
              <a:rPr lang="ru-RU" sz="2400" dirty="0">
                <a:solidFill>
                  <a:schemeClr val="bg1"/>
                </a:solidFill>
                <a:latin typeface="Elektra Text Pro" panose="02000503030000020004" pitchFamily="50" charset="-52"/>
              </a:rPr>
              <a:t>Телефон: +8-800-555-35-35</a:t>
            </a:r>
          </a:p>
        </p:txBody>
      </p:sp>
    </p:spTree>
    <p:extLst>
      <p:ext uri="{BB962C8B-B14F-4D97-AF65-F5344CB8AC3E}">
        <p14:creationId xmlns:p14="http://schemas.microsoft.com/office/powerpoint/2010/main" xmlns="" val="451246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</TotalTime>
  <Words>1093</Words>
  <Application>Microsoft Office PowerPoint</Application>
  <PresentationFormat>Произвольный</PresentationFormat>
  <Paragraphs>166</Paragraphs>
  <Slides>12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Егор Швецов</cp:lastModifiedBy>
  <cp:revision>31</cp:revision>
  <dcterms:created xsi:type="dcterms:W3CDTF">2016-03-09T10:31:39Z</dcterms:created>
  <dcterms:modified xsi:type="dcterms:W3CDTF">2025-12-18T11:22:48Z</dcterms:modified>
</cp:coreProperties>
</file>